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1651" r:id="rId5"/>
    <p:sldId id="1695" r:id="rId6"/>
    <p:sldId id="1714" r:id="rId7"/>
    <p:sldId id="1696" r:id="rId8"/>
    <p:sldId id="1717" r:id="rId9"/>
    <p:sldId id="1655" r:id="rId10"/>
    <p:sldId id="1700" r:id="rId11"/>
    <p:sldId id="1698" r:id="rId12"/>
    <p:sldId id="1697" r:id="rId13"/>
    <p:sldId id="1701" r:id="rId14"/>
    <p:sldId id="1657" r:id="rId15"/>
    <p:sldId id="1702" r:id="rId16"/>
    <p:sldId id="1703" r:id="rId17"/>
    <p:sldId id="1658" r:id="rId18"/>
    <p:sldId id="1660" r:id="rId19"/>
    <p:sldId id="1663" r:id="rId20"/>
    <p:sldId id="1661" r:id="rId21"/>
    <p:sldId id="1662" r:id="rId22"/>
    <p:sldId id="1664" r:id="rId23"/>
    <p:sldId id="1704" r:id="rId24"/>
    <p:sldId id="1705" r:id="rId25"/>
    <p:sldId id="1707" r:id="rId26"/>
    <p:sldId id="1706" r:id="rId27"/>
    <p:sldId id="1708" r:id="rId28"/>
    <p:sldId id="1709" r:id="rId29"/>
    <p:sldId id="1710" r:id="rId30"/>
    <p:sldId id="1718" r:id="rId31"/>
    <p:sldId id="1711" r:id="rId32"/>
    <p:sldId id="1712" r:id="rId33"/>
    <p:sldId id="1713" r:id="rId34"/>
    <p:sldId id="1719" r:id="rId35"/>
    <p:sldId id="1691" r:id="rId36"/>
    <p:sldId id="1716" r:id="rId37"/>
    <p:sldId id="1715" r:id="rId38"/>
    <p:sldId id="1692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05" autoAdjust="0"/>
    <p:restoredTop sz="85961" autoAdjust="0"/>
  </p:normalViewPr>
  <p:slideViewPr>
    <p:cSldViewPr snapToGrid="0">
      <p:cViewPr varScale="1">
        <p:scale>
          <a:sx n="140" d="100"/>
          <a:sy n="140" d="100"/>
        </p:scale>
        <p:origin x="361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519FB-913A-4222-8836-5E88B3D4E9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2830A-73C4-4C62-8FC7-58B701D2CCA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06388" y="652463"/>
            <a:ext cx="5788025" cy="3255962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分立式编程框架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2830A-73C4-4C62-8FC7-58B701D2C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Why?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2830A-73C4-4C62-8FC7-58B701D2C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2830A-73C4-4C62-8FC7-58B701D2C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现有研究的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算子融合设计空间质量低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缺少加速卡体系结构的解析模型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，导致融合方案的访存开销大。将加速卡的多级存储结构与并行计算架构建模为数学模型，定义优化参数的不等式约束</a:t>
            </a:r>
            <a:r>
              <a:rPr lang="zh-CN" altLang="en-US" sz="1200" kern="1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；</a:t>
            </a:r>
            <a:r>
              <a:rPr kumimoji="0" lang="zh-CN" altLang="en-US" sz="12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构建高质量的算子融合设计空间，设计多种黑盒算法执行设计空间探索</a:t>
            </a:r>
            <a:r>
              <a:rPr lang="zh-CN" altLang="en-US" sz="1200" kern="1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；</a:t>
            </a:r>
            <a:r>
              <a:rPr kumimoji="0" lang="zh-CN" altLang="en-US" sz="12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分析张量生命周期并预测融合后的内存占用，在内存容量约束下将所有算子融合为多个子图。</a:t>
            </a:r>
            <a:endParaRPr kumimoji="0" lang="en-US" altLang="zh-CN" sz="120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2830A-73C4-4C62-8FC7-58B701D2C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现有研究为满足数据依赖采用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固定的</a:t>
            </a: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循环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顺序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缺乏支持重排序的数据移动解析模型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，导致数据在片上内存的局部性受限。</a:t>
            </a:r>
            <a:endParaRPr kumimoji="0" lang="zh-CN" altLang="en-US" sz="1200" b="0" i="0" u="none" strike="noStrike" kern="1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将每个分块抽象为一个生产者计算任务或消费者计算任务，维护一个优先级队列；在每个计算子图内，</a:t>
            </a:r>
            <a:r>
              <a:rPr lang="zh-CN" altLang="en-US" sz="1200" kern="1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根据前驱与后继算子的分块形状，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根据数据依赖</a:t>
            </a:r>
            <a:r>
              <a:rPr lang="zh-CN" altLang="en-US" sz="1200" kern="1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确定分块计算的执行顺序；</a:t>
            </a:r>
            <a:r>
              <a:rPr kumimoji="0" lang="zh-CN" altLang="en-US" sz="12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分析融合算子每层循环与数据移动量或数据复用的关系</a:t>
            </a: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，对数据依赖无关的循环进行重新排序。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2830A-73C4-4C62-8FC7-58B701D2C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现有研究采用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经验性的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重计算决策</a:t>
            </a:r>
            <a:r>
              <a:rPr lang="zh-CN" altLang="en-US" sz="1200" kern="1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难以平衡</a:t>
            </a: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内存占用与计算延迟，导致加速卡性能降低。</a:t>
            </a:r>
            <a:endParaRPr kumimoji="0" lang="en-US" altLang="zh-CN" sz="1200" b="0" i="0" u="none" strike="noStrike" kern="1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在编译阶段，基于计算图的特征进行参数化建模，构建出符号化模型，该模型内置优化规则，可预先定义重计算策略；</a:t>
            </a: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在运行阶段，将实际工作负载参数代入符号化模型完成实例化，匹配优化规则，在线决策是否重计算。</a:t>
            </a:r>
            <a:endParaRPr kumimoji="0" lang="zh-CN" altLang="en-US" sz="1200" b="0" i="0" u="none" strike="noStrike" kern="1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2830A-73C4-4C62-8FC7-58B701D2C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2830A-73C4-4C62-8FC7-58B701D2C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5820E6-1B09-4632-88C1-1BBF6335433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634" y="2004777"/>
            <a:ext cx="12191365" cy="1951013"/>
          </a:xfrm>
          <a:prstGeom prst="rect">
            <a:avLst/>
          </a:prstGeom>
          <a:solidFill>
            <a:srgbClr val="02409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tIns="0" bIns="0" anchor="ctr"/>
          <a:lstStyle/>
          <a:p>
            <a:pPr algn="ctr">
              <a:lnSpc>
                <a:spcPts val="6000"/>
              </a:lnSpc>
              <a:spcBef>
                <a:spcPct val="0"/>
              </a:spcBef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课题五</a:t>
            </a:r>
            <a:r>
              <a:rPr lang="en-US" altLang="zh-CN" sz="4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4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面向国产</a:t>
            </a:r>
            <a:r>
              <a:rPr lang="en-US" altLang="zh-CN" sz="4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</a:t>
            </a:r>
            <a:r>
              <a:rPr lang="zh-CN" altLang="en-US" sz="4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加速卡的大模型存算协同编译软件</a:t>
            </a:r>
            <a:endParaRPr lang="en-US" altLang="zh-CN" sz="4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ts val="6000"/>
              </a:lnSpc>
              <a:spcBef>
                <a:spcPct val="0"/>
              </a:spcBef>
              <a:defRPr/>
            </a:pPr>
            <a:r>
              <a:rPr lang="zh-CN" altLang="en-US" sz="4000" b="1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年度工作汇报</a:t>
            </a:r>
            <a:endParaRPr lang="zh-CN" altLang="en-US" sz="40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916" name="副标题 2"/>
          <p:cNvSpPr>
            <a:spLocks noGrp="1"/>
          </p:cNvSpPr>
          <p:nvPr>
            <p:ph type="subTitle" idx="4294967295"/>
          </p:nvPr>
        </p:nvSpPr>
        <p:spPr>
          <a:xfrm>
            <a:off x="635" y="4741682"/>
            <a:ext cx="12191365" cy="1379518"/>
          </a:xfrm>
        </p:spPr>
        <p:txBody>
          <a:bodyPr/>
          <a:lstStyle/>
          <a:p>
            <a:pPr marL="0" indent="0" algn="ctr" eaLnBrk="1" hangingPunct="1">
              <a:spcAft>
                <a:spcPts val="600"/>
              </a:spcAft>
              <a:buNone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汇报人：沈明华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ctr" eaLnBrk="1" hangingPunct="1">
              <a:spcAft>
                <a:spcPts val="600"/>
              </a:spcAft>
              <a:buNone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中山大学计算机学院超算中心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ctr" eaLnBrk="1" hangingPunct="1">
              <a:spcAft>
                <a:spcPts val="600"/>
              </a:spcAft>
              <a:buNone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</a:t>
            </a: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0" y="61832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年度国家重点研发计划“先进计算与新兴软件”重点专项项目</a:t>
            </a:r>
            <a:endParaRPr lang="zh-CN" altLang="en-US" sz="32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19"/>
          <p:cNvCxnSpPr/>
          <p:nvPr/>
        </p:nvCxnSpPr>
        <p:spPr bwMode="auto">
          <a:xfrm flipH="1">
            <a:off x="1420196" y="-10652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直接连接符 20"/>
          <p:cNvCxnSpPr/>
          <p:nvPr/>
        </p:nvCxnSpPr>
        <p:spPr bwMode="auto">
          <a:xfrm flipH="1">
            <a:off x="1489481" y="-4866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直接连接符 30"/>
          <p:cNvCxnSpPr/>
          <p:nvPr/>
        </p:nvCxnSpPr>
        <p:spPr bwMode="auto">
          <a:xfrm>
            <a:off x="1554569" y="-4866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1722566" y="128127"/>
            <a:ext cx="711805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汇报提纲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489481" y="2109376"/>
            <a:ext cx="3739114" cy="2632710"/>
            <a:chOff x="3364547" y="2293620"/>
            <a:chExt cx="3739114" cy="2632710"/>
          </a:xfrm>
        </p:grpSpPr>
        <p:sp>
          <p:nvSpPr>
            <p:cNvPr id="21" name="Rectangle 6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368675" y="2293620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本课题总概述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368675" y="2982595"/>
              <a:ext cx="3734986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 smtClean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 smtClean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研究工作</a:t>
              </a:r>
              <a:r>
                <a:rPr lang="zh-CN" altLang="en-US" sz="2800" b="1" dirty="0" smtClean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进展</a:t>
              </a:r>
              <a:endPara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endPara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368040" y="4347845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未来</a:t>
              </a:r>
              <a:r>
                <a:rPr lang="zh-CN" altLang="en-US" sz="2800" b="1" dirty="0" smtClean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工作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计划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endPara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" name="Rectangle 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64547" y="3657600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指标完成情况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" name="Line 10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3581401" y="2865120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" name="Line 10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581400" y="3557270"/>
              <a:ext cx="3045118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" name="Line 10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3581401" y="4925695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2" name="Line 10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577908" y="4235450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911752" y="1838900"/>
            <a:ext cx="4737688" cy="3514575"/>
            <a:chOff x="1397086" y="1912525"/>
            <a:chExt cx="4737688" cy="3514575"/>
          </a:xfrm>
        </p:grpSpPr>
        <p:sp>
          <p:nvSpPr>
            <p:cNvPr id="34" name="矩形 33"/>
            <p:cNvSpPr/>
            <p:nvPr/>
          </p:nvSpPr>
          <p:spPr>
            <a:xfrm>
              <a:off x="1397086" y="1935712"/>
              <a:ext cx="4737688" cy="349138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544730" y="2386000"/>
              <a:ext cx="4442400" cy="2900200"/>
              <a:chOff x="1094488" y="2898900"/>
              <a:chExt cx="4442400" cy="2900200"/>
            </a:xfrm>
            <a:noFill/>
          </p:grpSpPr>
          <p:sp>
            <p:nvSpPr>
              <p:cNvPr id="37" name="矩形 36"/>
              <p:cNvSpPr/>
              <p:nvPr/>
            </p:nvSpPr>
            <p:spPr>
              <a:xfrm>
                <a:off x="1094488" y="2898900"/>
                <a:ext cx="4442400" cy="705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面向多样化算力的高性能易适配</a:t>
                </a:r>
                <a:endParaRPr lang="en-US" altLang="zh-CN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算子编程框架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094488" y="37904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访存感知的算子融合机制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1094488" y="53298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存算任务重叠的运行时资源调度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1094488" y="4441700"/>
                <a:ext cx="2181512" cy="705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张量程序与架构的自动映射器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3441600" y="4445650"/>
                <a:ext cx="2095288" cy="705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国产架构的混精训练技术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6" name="矩形 35"/>
            <p:cNvSpPr/>
            <p:nvPr/>
          </p:nvSpPr>
          <p:spPr>
            <a:xfrm>
              <a:off x="1397086" y="1912525"/>
              <a:ext cx="4737688" cy="469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本课题编译软件</a:t>
              </a:r>
              <a:endPara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课题</a:t>
            </a:r>
            <a:r>
              <a:rPr lang="zh-CN" altLang="en-US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回顾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07" y="922567"/>
            <a:ext cx="8916761" cy="579890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9028800" y="2426400"/>
            <a:ext cx="1425600" cy="42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课题进展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54390" y="1042633"/>
            <a:ext cx="985999" cy="5553972"/>
            <a:chOff x="70422" y="1027802"/>
            <a:chExt cx="985999" cy="5168476"/>
          </a:xfrm>
        </p:grpSpPr>
        <p:sp>
          <p:nvSpPr>
            <p:cNvPr id="8" name="矩形 7"/>
            <p:cNvSpPr/>
            <p:nvPr/>
          </p:nvSpPr>
          <p:spPr>
            <a:xfrm>
              <a:off x="70424" y="1852470"/>
              <a:ext cx="973184" cy="1011341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b="1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2024/12</a:t>
              </a:r>
              <a:endParaRPr lang="en-US" altLang="zh-CN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>
                <a:defRPr/>
              </a:pPr>
              <a:r>
                <a:rPr lang="en-US" altLang="zh-CN" b="1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|</a:t>
              </a:r>
              <a:endParaRPr lang="en-US" altLang="zh-CN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>
                <a:defRPr/>
              </a:pPr>
              <a:r>
                <a:rPr lang="en-US" altLang="zh-CN" b="1" kern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2025/03</a:t>
              </a:r>
              <a:endParaRPr lang="en-US" altLang="zh-CN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0423" y="2979262"/>
              <a:ext cx="985996" cy="965432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b="1" kern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2025/04</a:t>
              </a:r>
              <a:endParaRPr lang="en-US" altLang="zh-CN" sz="1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>
                <a:defRPr/>
              </a:pPr>
              <a:r>
                <a:rPr lang="en-US" altLang="zh-CN" sz="1600" b="1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|</a:t>
              </a:r>
              <a:endParaRPr lang="en-US" altLang="zh-CN" sz="16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>
                <a:defRPr/>
              </a:pPr>
              <a:r>
                <a:rPr lang="en-US" altLang="zh-CN" b="1" kern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2025/07</a:t>
              </a:r>
              <a:endParaRPr lang="en-US" altLang="zh-CN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70423" y="5009668"/>
              <a:ext cx="985996" cy="406466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1600" b="1" kern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|</a:t>
              </a:r>
              <a:endParaRPr lang="en-US" altLang="zh-CN" sz="16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>
                <a:defRPr/>
              </a:pPr>
              <a:r>
                <a:rPr lang="en-US" altLang="zh-CN" b="1" kern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2026/05</a:t>
              </a:r>
              <a:endParaRPr lang="en-US" altLang="zh-CN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0424" y="1052736"/>
              <a:ext cx="973184" cy="64807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1600" kern="0">
                <a:solidFill>
                  <a:prstClr val="black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51"/>
            <p:cNvCxnSpPr/>
            <p:nvPr/>
          </p:nvCxnSpPr>
          <p:spPr>
            <a:xfrm>
              <a:off x="142432" y="1058130"/>
              <a:ext cx="853532" cy="632384"/>
            </a:xfrm>
            <a:prstGeom prst="lin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</p:cxnSp>
        <p:sp>
          <p:nvSpPr>
            <p:cNvPr id="15" name="文本框 14"/>
            <p:cNvSpPr txBox="1"/>
            <p:nvPr/>
          </p:nvSpPr>
          <p:spPr>
            <a:xfrm>
              <a:off x="73681" y="1320529"/>
              <a:ext cx="649537" cy="3436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b="1" kern="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年度</a:t>
              </a:r>
              <a:endParaRPr lang="zh-CN" altLang="en-US" b="1" kern="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06884" y="1027802"/>
              <a:ext cx="649537" cy="3436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b="1" kern="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内容</a:t>
              </a:r>
              <a:endParaRPr lang="zh-CN" altLang="en-US" b="1" kern="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70422" y="5548206"/>
              <a:ext cx="985997" cy="648072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36000" rIns="36000" rtlCol="0" anchor="ctr"/>
            <a:lstStyle/>
            <a:p>
              <a:pPr algn="ctr">
                <a:defRPr/>
              </a:pPr>
              <a:r>
                <a:rPr lang="zh-CN" altLang="en-US" sz="1600" b="1" kern="0">
                  <a:solidFill>
                    <a:prstClr val="white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中期检查</a:t>
              </a:r>
              <a:endParaRPr lang="zh-CN" altLang="en-US" sz="1600" b="1" kern="0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10576147" y="1541859"/>
            <a:ext cx="0" cy="5057694"/>
          </a:xfrm>
          <a:prstGeom prst="line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2857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9" name="直接连接符 18"/>
          <p:cNvCxnSpPr>
            <a:stCxn id="27" idx="2"/>
          </p:cNvCxnSpPr>
          <p:nvPr/>
        </p:nvCxnSpPr>
        <p:spPr>
          <a:xfrm>
            <a:off x="7824551" y="1732483"/>
            <a:ext cx="0" cy="4867070"/>
          </a:xfrm>
          <a:prstGeom prst="line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2857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20" name="直接连接符 19"/>
          <p:cNvCxnSpPr>
            <a:stCxn id="33" idx="2"/>
          </p:cNvCxnSpPr>
          <p:nvPr/>
        </p:nvCxnSpPr>
        <p:spPr>
          <a:xfrm>
            <a:off x="5199992" y="1752933"/>
            <a:ext cx="1" cy="4846620"/>
          </a:xfrm>
          <a:prstGeom prst="line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2857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21" name="直接连接符 20"/>
          <p:cNvCxnSpPr>
            <a:stCxn id="24" idx="2"/>
          </p:cNvCxnSpPr>
          <p:nvPr/>
        </p:nvCxnSpPr>
        <p:spPr>
          <a:xfrm>
            <a:off x="2745909" y="1750700"/>
            <a:ext cx="0" cy="4848853"/>
          </a:xfrm>
          <a:prstGeom prst="line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2857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22" name="矩形 21"/>
          <p:cNvSpPr/>
          <p:nvPr/>
        </p:nvSpPr>
        <p:spPr>
          <a:xfrm>
            <a:off x="1545002" y="1935030"/>
            <a:ext cx="10300518" cy="468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1600"/>
              </a:lnSpc>
              <a:defRPr/>
            </a:pPr>
            <a:r>
              <a:rPr lang="zh-CN" altLang="en-US" sz="1700" kern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查询相关文献，完成核心技术的理论研究和积累 ，提出大模型存算协同编译软件总体架构</a:t>
            </a:r>
            <a:endParaRPr lang="zh-CN" altLang="en-US" sz="17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524955" y="6278108"/>
            <a:ext cx="10320565" cy="324344"/>
          </a:xfrm>
          <a:prstGeom prst="rect">
            <a:avLst/>
          </a:prstGeom>
          <a:solidFill>
            <a:srgbClr val="E54C5E">
              <a:lumMod val="20000"/>
              <a:lumOff val="80000"/>
            </a:srgbClr>
          </a:soli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累计发表论文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篇，累计提交专利申请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项，课题调研报告及设计文档累计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2-3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份</a:t>
            </a:r>
            <a:endParaRPr kumimoji="0" lang="zh-CN" altLang="en-US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543076" y="1068003"/>
            <a:ext cx="2405665" cy="682697"/>
          </a:xfrm>
          <a:prstGeom prst="rect">
            <a:avLst/>
          </a:prstGeom>
          <a:solidFill>
            <a:srgbClr val="E7BB01">
              <a:lumMod val="40000"/>
              <a:lumOff val="60000"/>
            </a:srgbClr>
          </a:solidFill>
          <a:ln w="9525" cap="flat" cmpd="sng" algn="ctr">
            <a:solidFill>
              <a:srgbClr val="E7BB01">
                <a:lumMod val="40000"/>
                <a:lumOff val="6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>
              <a:defRPr/>
            </a:pPr>
            <a:r>
              <a:rPr lang="zh-CN" altLang="en-US" sz="20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访存感知的</a:t>
            </a:r>
            <a:endParaRPr lang="en-US" altLang="zh-CN" sz="20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zh-CN" altLang="en-US" sz="20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算子融合机制</a:t>
            </a:r>
            <a:endParaRPr lang="zh-CN" altLang="en-US" sz="20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44986" y="2510102"/>
            <a:ext cx="2405671" cy="486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20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计算图优化方法</a:t>
            </a:r>
            <a:r>
              <a:rPr lang="zh-CN" altLang="en-US" sz="17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研究</a:t>
            </a:r>
            <a:endParaRPr lang="zh-CN" altLang="en-US" sz="17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543075" y="3110758"/>
            <a:ext cx="2405665" cy="486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16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计算图中间表示设计</a:t>
            </a:r>
            <a:endParaRPr lang="zh-CN" altLang="en-US" sz="1700"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451244" y="1063124"/>
            <a:ext cx="2746614" cy="669359"/>
          </a:xfrm>
          <a:prstGeom prst="rect">
            <a:avLst/>
          </a:prstGeom>
          <a:solidFill>
            <a:srgbClr val="E7BB01">
              <a:lumMod val="40000"/>
              <a:lumOff val="60000"/>
            </a:srgbClr>
          </a:solidFill>
          <a:ln w="9525" cap="flat" cmpd="sng" algn="ctr">
            <a:solidFill>
              <a:srgbClr val="E7BB01">
                <a:lumMod val="40000"/>
                <a:lumOff val="6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>
              <a:defRPr/>
            </a:pPr>
            <a:r>
              <a:rPr lang="zh-CN" altLang="en-US" sz="20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国产计算架构的混精</a:t>
            </a:r>
            <a:endParaRPr lang="en-US" altLang="zh-CN" sz="20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zh-CN" altLang="en-US" sz="20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训练和算子库构建技术</a:t>
            </a:r>
            <a:endParaRPr lang="zh-CN" altLang="en-US" sz="20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448447" y="2508873"/>
            <a:ext cx="2746800" cy="486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2000"/>
              </a:lnSpc>
              <a:defRPr/>
            </a:pPr>
            <a:r>
              <a:rPr lang="zh-CN" altLang="en-US" sz="17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低精度数据类型系统研究</a:t>
            </a:r>
            <a:endParaRPr lang="zh-CN" altLang="en-US" sz="17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454334" y="3089571"/>
            <a:ext cx="2746800" cy="486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2000"/>
              </a:lnSpc>
              <a:defRPr/>
            </a:pPr>
            <a:r>
              <a:rPr lang="zh-CN" altLang="en-US" sz="17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低精度数据传输机制研究</a:t>
            </a:r>
            <a:endParaRPr lang="zh-CN" altLang="en-US" sz="17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309710" y="1069427"/>
            <a:ext cx="2535810" cy="671643"/>
          </a:xfrm>
          <a:prstGeom prst="rect">
            <a:avLst/>
          </a:prstGeom>
          <a:solidFill>
            <a:srgbClr val="E7BB01">
              <a:lumMod val="40000"/>
              <a:lumOff val="60000"/>
            </a:srgbClr>
          </a:solidFill>
          <a:ln w="9525" cap="flat" cmpd="sng" algn="ctr">
            <a:solidFill>
              <a:srgbClr val="E7BB01">
                <a:lumMod val="40000"/>
                <a:lumOff val="6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>
              <a:defRPr/>
            </a:pPr>
            <a:r>
              <a:rPr lang="zh-CN" altLang="en-US" sz="20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存算任务重叠的</a:t>
            </a:r>
            <a:endParaRPr lang="en-US" altLang="zh-CN" sz="20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zh-CN" altLang="en-US" sz="20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运行时资源调度方法</a:t>
            </a:r>
            <a:endParaRPr lang="zh-CN" altLang="en-US" sz="20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305692" y="2510796"/>
            <a:ext cx="2539828" cy="486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2000"/>
              </a:lnSpc>
              <a:defRPr/>
            </a:pPr>
            <a:r>
              <a:rPr lang="zh-CN" altLang="en-US" sz="17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存算任务调度方法研究</a:t>
            </a:r>
            <a:endParaRPr lang="zh-CN" altLang="en-US" sz="17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285646" y="3090265"/>
            <a:ext cx="2559874" cy="486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2000"/>
              </a:lnSpc>
              <a:defRPr/>
            </a:pPr>
            <a:r>
              <a:rPr lang="zh-CN" altLang="en-US" sz="17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资源复用技术研究</a:t>
            </a:r>
            <a:endParaRPr lang="zh-CN" altLang="en-US" sz="17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060592" y="1070236"/>
            <a:ext cx="2278800" cy="682697"/>
          </a:xfrm>
          <a:prstGeom prst="rect">
            <a:avLst/>
          </a:prstGeom>
          <a:solidFill>
            <a:srgbClr val="E7BB01">
              <a:lumMod val="40000"/>
              <a:lumOff val="60000"/>
            </a:srgbClr>
          </a:solidFill>
          <a:ln w="9525" cap="flat" cmpd="sng" algn="ctr">
            <a:solidFill>
              <a:srgbClr val="E7BB01">
                <a:lumMod val="40000"/>
                <a:lumOff val="6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>
              <a:defRPr/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张量程序与架构的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自动映射框架</a:t>
            </a:r>
            <a:endParaRPr lang="zh-CN" altLang="en-US" sz="2000" b="1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060593" y="3096826"/>
            <a:ext cx="2278261" cy="486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16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算子级中间表示设计</a:t>
            </a:r>
            <a:endParaRPr lang="zh-CN" altLang="en-US" sz="1700"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535691" y="5894847"/>
            <a:ext cx="10309829" cy="324345"/>
          </a:xfrm>
          <a:prstGeom prst="rect">
            <a:avLst/>
          </a:prstGeom>
          <a:solidFill>
            <a:srgbClr val="E54C5E">
              <a:lumMod val="20000"/>
              <a:lumOff val="80000"/>
            </a:srgbClr>
          </a:soli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支持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款国产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AI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加速卡，相比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Meta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Pytorch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2.0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，编译性能提升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倍</a:t>
            </a:r>
            <a:endParaRPr kumimoji="0" lang="zh-CN" altLang="en-US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56994" y="4307030"/>
            <a:ext cx="985996" cy="90428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en-US" altLang="zh-CN" b="1" ker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2025/08</a:t>
            </a:r>
            <a:endParaRPr lang="en-US" altLang="zh-CN" sz="1600" b="1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defRPr/>
            </a:pPr>
            <a:endParaRPr lang="en-US" altLang="zh-CN" sz="100" b="1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zh-CN" sz="16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endParaRPr lang="en-US" altLang="zh-CN" sz="1600" b="1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zh-CN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2025/11</a:t>
            </a:r>
            <a:endParaRPr lang="en-US" altLang="zh-CN" b="1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059741" y="2515365"/>
            <a:ext cx="2278262" cy="486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20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张量内存映射技术研究</a:t>
            </a:r>
            <a:endParaRPr lang="zh-CN" altLang="en-US" sz="1700"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535472" y="3711414"/>
            <a:ext cx="2405665" cy="486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16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计算图 </a:t>
            </a:r>
            <a:r>
              <a:rPr lang="en-US" altLang="zh-CN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IR </a:t>
            </a: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转换方法</a:t>
            </a:r>
            <a:endParaRPr lang="zh-CN" altLang="en-US" sz="1700"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057810" y="3711414"/>
            <a:ext cx="2278261" cy="486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16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算子级 </a:t>
            </a:r>
            <a:r>
              <a:rPr lang="en-US" altLang="zh-CN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IR </a:t>
            </a: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转换方法</a:t>
            </a:r>
            <a:endParaRPr lang="zh-CN" altLang="en-US" sz="1700"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546405" y="4304486"/>
            <a:ext cx="2405665" cy="409634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16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算子融合方法研究</a:t>
            </a:r>
            <a:endParaRPr lang="zh-CN" altLang="en-US" sz="1700"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555519" y="4821192"/>
            <a:ext cx="2405665" cy="438508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16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重计算方法研究</a:t>
            </a:r>
            <a:endParaRPr lang="zh-CN" altLang="en-US" sz="1700"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555519" y="5322109"/>
            <a:ext cx="10290001" cy="436782"/>
          </a:xfrm>
          <a:prstGeom prst="rect">
            <a:avLst/>
          </a:prstGeom>
          <a:solidFill>
            <a:srgbClr val="E7E6E6">
              <a:lumMod val="90000"/>
            </a:srgbClr>
          </a:soli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下一步工作计划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057810" y="4304486"/>
            <a:ext cx="2278261" cy="419288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16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张量自动映射方法</a:t>
            </a:r>
            <a:endParaRPr lang="zh-CN" altLang="en-US" sz="1700"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065150" y="4825866"/>
            <a:ext cx="2278261" cy="419288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16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跨架构交叉编译</a:t>
            </a:r>
            <a:endParaRPr lang="zh-CN" altLang="en-US" sz="1700"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457758" y="3712092"/>
            <a:ext cx="2746800" cy="486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2000"/>
              </a:lnSpc>
              <a:defRPr/>
            </a:pPr>
            <a:r>
              <a:rPr lang="zh-CN" altLang="en-US" sz="17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低</a:t>
            </a: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精度数据类型设计</a:t>
            </a:r>
            <a:endParaRPr lang="zh-CN" altLang="en-US" sz="17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463645" y="4303935"/>
            <a:ext cx="2746800" cy="436782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20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低精度张量算子设计</a:t>
            </a:r>
            <a:endParaRPr lang="zh-CN" altLang="en-US" sz="17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9315003" y="3714015"/>
            <a:ext cx="2530517" cy="486000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2000"/>
              </a:lnSpc>
              <a:defRPr/>
            </a:pPr>
            <a:r>
              <a:rPr lang="zh-CN" altLang="en-US" sz="17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计算资源抽象与特性研究</a:t>
            </a:r>
            <a:endParaRPr lang="zh-CN" altLang="en-US" sz="17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9324313" y="4304629"/>
            <a:ext cx="2521207" cy="436782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20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计算任务负载剖析</a:t>
            </a:r>
            <a:endParaRPr lang="zh-CN" altLang="en-US" sz="17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494208" y="4823657"/>
            <a:ext cx="2746800" cy="436782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20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混合精度算子库开发</a:t>
            </a:r>
            <a:endParaRPr lang="zh-CN" altLang="en-US" sz="17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325520" y="4824351"/>
            <a:ext cx="2520000" cy="436782"/>
          </a:xfrm>
          <a:prstGeom prst="rect">
            <a:avLst/>
          </a:prstGeom>
          <a:gradFill rotWithShape="1">
            <a:gsLst>
              <a:gs pos="0">
                <a:srgbClr val="AAEFD1">
                  <a:tint val="50000"/>
                  <a:satMod val="300000"/>
                </a:srgbClr>
              </a:gs>
              <a:gs pos="35000">
                <a:srgbClr val="AAEFD1">
                  <a:tint val="37000"/>
                  <a:satMod val="300000"/>
                </a:srgbClr>
              </a:gs>
              <a:gs pos="100000">
                <a:srgbClr val="AAEFD1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EFD1">
                <a:shade val="95000"/>
                <a:satMod val="105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ts val="2000"/>
              </a:lnSpc>
              <a:defRPr/>
            </a:pPr>
            <a:r>
              <a:rPr lang="zh-CN" altLang="en-US" sz="1700" ker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算子级运行时调度</a:t>
            </a:r>
            <a:endParaRPr lang="zh-CN" altLang="en-US" sz="17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工作</a:t>
            </a:r>
            <a:r>
              <a:rPr lang="zh-CN" altLang="en-US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内容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747394" y="2105562"/>
            <a:ext cx="4831244" cy="3492138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895016" y="2552657"/>
            <a:ext cx="4536000" cy="2904143"/>
            <a:chOff x="6480088" y="2894957"/>
            <a:chExt cx="4536000" cy="2904143"/>
          </a:xfrm>
          <a:noFill/>
        </p:grpSpPr>
        <p:sp>
          <p:nvSpPr>
            <p:cNvPr id="13" name="矩形 12"/>
            <p:cNvSpPr/>
            <p:nvPr/>
          </p:nvSpPr>
          <p:spPr>
            <a:xfrm>
              <a:off x="6480088" y="2894957"/>
              <a:ext cx="4536000" cy="469250"/>
            </a:xfrm>
            <a:prstGeom prst="rect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chemeClr val="bg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面向</a:t>
              </a:r>
              <a:r>
                <a:rPr lang="en-US" altLang="zh-CN" sz="2200" b="1" dirty="0">
                  <a:solidFill>
                    <a:schemeClr val="bg1">
                      <a:lumMod val="50000"/>
                    </a:schemeClr>
                  </a:solidFill>
                  <a:latin typeface="Times" panose="02020603050405020304" pitchFamily="18" charset="0"/>
                  <a:ea typeface="黑体" panose="02010609060101010101" pitchFamily="49" charset="-122"/>
                  <a:cs typeface="Times" panose="02020603050405020304" pitchFamily="18" charset="0"/>
                </a:rPr>
                <a:t>GPU</a:t>
              </a:r>
              <a:r>
                <a:rPr lang="zh-CN" altLang="en-US" sz="2200" b="1" dirty="0">
                  <a:solidFill>
                    <a:schemeClr val="bg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的算子编程框架</a:t>
              </a:r>
              <a:r>
                <a:rPr lang="en-US" altLang="zh-CN" sz="2200" b="1" dirty="0">
                  <a:solidFill>
                    <a:schemeClr val="bg1">
                      <a:lumMod val="50000"/>
                    </a:schemeClr>
                  </a:solidFill>
                  <a:latin typeface="Times" panose="02020603050405020304" pitchFamily="18" charset="0"/>
                  <a:ea typeface="黑体" panose="02010609060101010101" pitchFamily="49" charset="-122"/>
                  <a:cs typeface="Times" panose="02020603050405020304" pitchFamily="18" charset="0"/>
                </a:rPr>
                <a:t>Triton</a:t>
              </a:r>
              <a:endParaRPr lang="zh-CN" altLang="en-US" sz="2200" b="1" dirty="0">
                <a:solidFill>
                  <a:schemeClr val="bg1">
                    <a:lumMod val="50000"/>
                  </a:schemeClr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480088" y="3550157"/>
              <a:ext cx="4536000" cy="469250"/>
            </a:xfrm>
            <a:prstGeom prst="rect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chemeClr val="bg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算子动态融合机制</a:t>
              </a:r>
              <a:r>
                <a:rPr lang="en-US" altLang="zh-CN" sz="2200" b="1" dirty="0">
                  <a:solidFill>
                    <a:schemeClr val="bg1">
                      <a:lumMod val="50000"/>
                    </a:schemeClr>
                  </a:solidFill>
                  <a:latin typeface="Times" panose="02020603050405020304" pitchFamily="18" charset="0"/>
                  <a:ea typeface="黑体" panose="02010609060101010101" pitchFamily="49" charset="-122"/>
                  <a:cs typeface="Times" panose="02020603050405020304" pitchFamily="18" charset="0"/>
                </a:rPr>
                <a:t>TorchScript</a:t>
              </a:r>
              <a:endParaRPr lang="zh-CN" altLang="en-US" sz="2200" b="1" dirty="0">
                <a:solidFill>
                  <a:schemeClr val="bg1">
                    <a:lumMod val="50000"/>
                  </a:schemeClr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480088" y="4201957"/>
              <a:ext cx="2217512" cy="945343"/>
            </a:xfrm>
            <a:prstGeom prst="rect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chemeClr val="bg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高性能张量程序</a:t>
              </a:r>
              <a:endParaRPr lang="en-US" altLang="zh-CN" sz="2200" b="1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200" b="1" dirty="0">
                  <a:solidFill>
                    <a:schemeClr val="bg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生成器</a:t>
              </a:r>
              <a:endParaRPr lang="en-US" altLang="zh-CN" sz="2200" b="1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en-US" altLang="zh-CN" sz="2200" b="1" dirty="0">
                  <a:solidFill>
                    <a:schemeClr val="bg1">
                      <a:lumMod val="50000"/>
                    </a:schemeClr>
                  </a:solidFill>
                  <a:latin typeface="Times" panose="02020603050405020304" pitchFamily="18" charset="0"/>
                  <a:ea typeface="黑体" panose="02010609060101010101" pitchFamily="49" charset="-122"/>
                  <a:cs typeface="Times" panose="02020603050405020304" pitchFamily="18" charset="0"/>
                </a:rPr>
                <a:t>TorchInductor</a:t>
              </a:r>
              <a:endParaRPr lang="zh-CN" altLang="en-US" sz="2200" b="1" dirty="0">
                <a:solidFill>
                  <a:schemeClr val="bg1">
                    <a:lumMod val="50000"/>
                  </a:schemeClr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8827376" y="4201957"/>
              <a:ext cx="2188712" cy="945343"/>
            </a:xfrm>
            <a:prstGeom prst="rect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chemeClr val="bg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基于类型转换的自动混合精度库</a:t>
              </a:r>
              <a:endParaRPr lang="en-US" altLang="zh-CN" sz="2200" b="1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en-US" altLang="zh-CN" sz="2200" b="1" dirty="0">
                  <a:solidFill>
                    <a:schemeClr val="bg1">
                      <a:lumMod val="50000"/>
                    </a:schemeClr>
                  </a:solidFill>
                  <a:latin typeface="Times" panose="02020603050405020304" pitchFamily="18" charset="0"/>
                  <a:ea typeface="黑体" panose="02010609060101010101" pitchFamily="49" charset="-122"/>
                  <a:cs typeface="Times" panose="02020603050405020304" pitchFamily="18" charset="0"/>
                </a:rPr>
                <a:t>TorchAmp</a:t>
              </a:r>
              <a:endParaRPr lang="zh-CN" altLang="en-US" sz="2200" b="1" dirty="0">
                <a:solidFill>
                  <a:schemeClr val="bg1">
                    <a:lumMod val="50000"/>
                  </a:schemeClr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6480088" y="5329850"/>
              <a:ext cx="4536000" cy="469250"/>
            </a:xfrm>
            <a:prstGeom prst="rect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chemeClr val="bg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运行时任务管理系统</a:t>
              </a:r>
              <a:r>
                <a:rPr lang="en-US" altLang="zh-CN" sz="2200" b="1" dirty="0">
                  <a:solidFill>
                    <a:schemeClr val="bg1">
                      <a:lumMod val="50000"/>
                    </a:schemeClr>
                  </a:solidFill>
                  <a:latin typeface="Times" panose="02020603050405020304" pitchFamily="18" charset="0"/>
                  <a:ea typeface="黑体" panose="02010609060101010101" pitchFamily="49" charset="-122"/>
                  <a:cs typeface="Times" panose="02020603050405020304" pitchFamily="18" charset="0"/>
                </a:rPr>
                <a:t>TorchDynamo</a:t>
              </a:r>
              <a:endParaRPr lang="zh-CN" altLang="en-US" sz="2200" b="1" dirty="0">
                <a:solidFill>
                  <a:schemeClr val="bg1">
                    <a:lumMod val="50000"/>
                  </a:schemeClr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383438" y="2083125"/>
            <a:ext cx="4737688" cy="3514575"/>
            <a:chOff x="1397086" y="1912525"/>
            <a:chExt cx="4737688" cy="3514575"/>
          </a:xfrm>
        </p:grpSpPr>
        <p:sp>
          <p:nvSpPr>
            <p:cNvPr id="6" name="矩形 5"/>
            <p:cNvSpPr/>
            <p:nvPr/>
          </p:nvSpPr>
          <p:spPr>
            <a:xfrm>
              <a:off x="1397086" y="1935712"/>
              <a:ext cx="4737688" cy="3491388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1544730" y="2386000"/>
              <a:ext cx="4442400" cy="2900200"/>
              <a:chOff x="1094488" y="2898900"/>
              <a:chExt cx="4442400" cy="2900200"/>
            </a:xfrm>
            <a:noFill/>
          </p:grpSpPr>
          <p:sp>
            <p:nvSpPr>
              <p:cNvPr id="3" name="矩形 2"/>
              <p:cNvSpPr/>
              <p:nvPr/>
            </p:nvSpPr>
            <p:spPr>
              <a:xfrm>
                <a:off x="1094488" y="2898900"/>
                <a:ext cx="4442400" cy="70560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面向多样化算力的高性能易适配</a:t>
                </a:r>
                <a:endParaRPr lang="en-US" altLang="zh-CN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算子编程框架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1094488" y="37904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访存感知的算子融合机制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1094488" y="53298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存算任务重叠的运行时资源调度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094488" y="4441700"/>
                <a:ext cx="2181512" cy="70560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张量程序与架构的自动映射器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3441600" y="4445650"/>
                <a:ext cx="2095288" cy="70560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国产架构的混精训练技术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1" name="矩形 20"/>
            <p:cNvSpPr/>
            <p:nvPr/>
          </p:nvSpPr>
          <p:spPr>
            <a:xfrm>
              <a:off x="1397086" y="1912525"/>
              <a:ext cx="4737688" cy="469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本课题编译软件</a:t>
              </a:r>
              <a:endParaRPr lang="zh-CN" altLang="en-US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6747394" y="2073657"/>
            <a:ext cx="4831244" cy="469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bg1">
                    <a:lumMod val="50000"/>
                  </a:schemeClr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Meta Pytorch 2.0 [</a:t>
            </a:r>
            <a:r>
              <a:rPr lang="en-US" altLang="zh-CN" sz="2200" b="1" dirty="0" err="1" smtClean="0">
                <a:solidFill>
                  <a:schemeClr val="bg1">
                    <a:lumMod val="50000"/>
                  </a:schemeClr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ASPLOS’24</a:t>
            </a:r>
            <a:r>
              <a:rPr lang="en-US" altLang="zh-CN" sz="2200" b="1" dirty="0" smtClean="0">
                <a:solidFill>
                  <a:schemeClr val="bg1">
                    <a:lumMod val="50000"/>
                  </a:schemeClr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]</a:t>
            </a:r>
            <a:endParaRPr lang="zh-CN" altLang="en-US" sz="2200" b="1" dirty="0">
              <a:solidFill>
                <a:schemeClr val="bg1">
                  <a:lumMod val="50000"/>
                </a:schemeClr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383438" y="5783649"/>
            <a:ext cx="10195200" cy="74330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531082" y="5914325"/>
            <a:ext cx="2415468" cy="46585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摩尔线程</a:t>
            </a:r>
            <a:r>
              <a:rPr lang="en-US" altLang="zh-CN" b="1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MTTS4000</a:t>
            </a:r>
            <a:endParaRPr lang="zh-CN" altLang="en-US" b="1" dirty="0">
              <a:solidFill>
                <a:schemeClr val="tx1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094194" y="5914325"/>
            <a:ext cx="1853868" cy="463636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沐曦曦云</a:t>
            </a:r>
            <a:r>
              <a:rPr lang="en-US" altLang="zh-CN" b="1" dirty="0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C500</a:t>
            </a:r>
            <a:endParaRPr lang="zh-CN" altLang="en-US" b="1" dirty="0">
              <a:solidFill>
                <a:schemeClr val="tx1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100162" y="5914325"/>
            <a:ext cx="1903610" cy="463636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海光</a:t>
            </a:r>
            <a:r>
              <a:rPr lang="en-US" altLang="zh-CN" b="1" dirty="0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DCUZ100L</a:t>
            </a:r>
            <a:endParaRPr lang="en-US" altLang="zh-CN" b="1" dirty="0">
              <a:solidFill>
                <a:schemeClr val="tx1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155872" y="5914325"/>
            <a:ext cx="1532174" cy="46585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昇腾</a:t>
            </a:r>
            <a:r>
              <a:rPr lang="en-US" altLang="zh-CN" b="1" dirty="0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910B4</a:t>
            </a:r>
            <a:endParaRPr lang="en-US" altLang="zh-CN" b="1" dirty="0">
              <a:solidFill>
                <a:schemeClr val="tx1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847961" y="5914325"/>
            <a:ext cx="1570762" cy="46585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英伟达</a:t>
            </a:r>
            <a:r>
              <a:rPr lang="en-US" altLang="zh-CN" b="1" dirty="0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GPU</a:t>
            </a:r>
            <a:endParaRPr lang="en-US" altLang="zh-CN" b="1" dirty="0">
              <a:solidFill>
                <a:schemeClr val="tx1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83438" y="1177062"/>
            <a:ext cx="10195200" cy="74330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531082" y="1315787"/>
            <a:ext cx="2181512" cy="46585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Llama-3-</a:t>
            </a:r>
            <a:r>
              <a:rPr lang="en-US" altLang="zh-CN" sz="2200" b="1" dirty="0" err="1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8B</a:t>
            </a:r>
            <a:r>
              <a:rPr lang="en-US" altLang="zh-CN" sz="2200" b="1" dirty="0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/</a:t>
            </a:r>
            <a:r>
              <a:rPr lang="en-US" altLang="zh-CN" sz="2200" b="1" dirty="0" err="1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1B</a:t>
            </a:r>
            <a:endParaRPr lang="zh-CN" altLang="en-US" b="1" dirty="0">
              <a:solidFill>
                <a:schemeClr val="tx1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946550" y="1317873"/>
            <a:ext cx="2743200" cy="46585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Qwen-2.5-</a:t>
            </a:r>
            <a:r>
              <a:rPr lang="en-US" altLang="zh-CN" sz="2200" b="1" dirty="0" err="1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7B</a:t>
            </a:r>
            <a:r>
              <a:rPr lang="en-US" altLang="zh-CN" sz="2200" b="1" dirty="0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/2-</a:t>
            </a:r>
            <a:r>
              <a:rPr lang="en-US" altLang="zh-CN" sz="2200" b="1" dirty="0" err="1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0.5B</a:t>
            </a:r>
            <a:endParaRPr lang="zh-CN" altLang="en-US" b="1" dirty="0">
              <a:solidFill>
                <a:schemeClr val="tx1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923706" y="1315787"/>
            <a:ext cx="1232166" cy="46585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GPT-2</a:t>
            </a:r>
            <a:endParaRPr lang="zh-CN" altLang="en-US" b="1" dirty="0">
              <a:solidFill>
                <a:schemeClr val="tx1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384267" y="1312863"/>
            <a:ext cx="1232166" cy="46585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BERT</a:t>
            </a:r>
            <a:endParaRPr lang="zh-CN" altLang="en-US" b="1" dirty="0">
              <a:solidFill>
                <a:schemeClr val="tx1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844587" y="1312863"/>
            <a:ext cx="1232166" cy="46585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…</a:t>
            </a:r>
            <a:endParaRPr lang="zh-CN" altLang="en-US" b="1" dirty="0">
              <a:solidFill>
                <a:schemeClr val="tx1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89957" y="5919820"/>
            <a:ext cx="785381" cy="4581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硬件</a:t>
            </a:r>
            <a:endParaRPr lang="en-US" altLang="zh-CN" sz="2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89957" y="3622560"/>
            <a:ext cx="785381" cy="4581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软件</a:t>
            </a:r>
            <a:endParaRPr lang="en-US" altLang="zh-CN" sz="2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76642" y="1312863"/>
            <a:ext cx="806510" cy="465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模型</a:t>
            </a:r>
            <a:endParaRPr lang="en-US" altLang="zh-CN" b="1" dirty="0">
              <a:solidFill>
                <a:schemeClr val="tx1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19"/>
          <p:cNvCxnSpPr/>
          <p:nvPr/>
        </p:nvCxnSpPr>
        <p:spPr bwMode="auto">
          <a:xfrm flipH="1">
            <a:off x="1420196" y="-10652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直接连接符 20"/>
          <p:cNvCxnSpPr/>
          <p:nvPr/>
        </p:nvCxnSpPr>
        <p:spPr bwMode="auto">
          <a:xfrm flipH="1">
            <a:off x="1489481" y="-4866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直接连接符 30"/>
          <p:cNvCxnSpPr/>
          <p:nvPr/>
        </p:nvCxnSpPr>
        <p:spPr bwMode="auto">
          <a:xfrm>
            <a:off x="1554569" y="-4866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1722566" y="128127"/>
            <a:ext cx="711805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汇报提纲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>
            <a:off x="1489481" y="2109376"/>
            <a:ext cx="3739114" cy="2632710"/>
            <a:chOff x="3364547" y="2293620"/>
            <a:chExt cx="3739114" cy="2632710"/>
          </a:xfrm>
        </p:grpSpPr>
        <p:sp>
          <p:nvSpPr>
            <p:cNvPr id="22" name="Rectangle 6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368675" y="2293620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本课题总概述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23" name="Rectangle 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368675" y="2982595"/>
              <a:ext cx="3734986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 smtClean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研究工作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进展</a:t>
              </a:r>
              <a:endParaRPr lang="en-US" altLang="zh-CN" sz="2800" b="1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endPara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368040" y="4347845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未来</a:t>
              </a:r>
              <a:r>
                <a:rPr lang="zh-CN" altLang="en-US" sz="2800" b="1" dirty="0" smtClean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工作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计划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endPara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64547" y="3657600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指标完成情况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3581401" y="2865120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" name="Line 10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581400" y="3557270"/>
              <a:ext cx="3045118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" name="Line 10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3581401" y="4925695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" name="Line 10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577908" y="4235450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911752" y="1838900"/>
            <a:ext cx="4737688" cy="3514575"/>
            <a:chOff x="1397086" y="1912525"/>
            <a:chExt cx="4737688" cy="3514575"/>
          </a:xfrm>
        </p:grpSpPr>
        <p:sp>
          <p:nvSpPr>
            <p:cNvPr id="31" name="矩形 30"/>
            <p:cNvSpPr/>
            <p:nvPr/>
          </p:nvSpPr>
          <p:spPr>
            <a:xfrm>
              <a:off x="1397086" y="1935712"/>
              <a:ext cx="4737688" cy="3491388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1544730" y="2386000"/>
              <a:ext cx="4442400" cy="2900200"/>
              <a:chOff x="1094488" y="2898900"/>
              <a:chExt cx="4442400" cy="2900200"/>
            </a:xfrm>
            <a:noFill/>
          </p:grpSpPr>
          <p:sp>
            <p:nvSpPr>
              <p:cNvPr id="34" name="矩形 33"/>
              <p:cNvSpPr/>
              <p:nvPr/>
            </p:nvSpPr>
            <p:spPr>
              <a:xfrm>
                <a:off x="1094488" y="2898900"/>
                <a:ext cx="4442400" cy="70560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面向多样化算力的高性能易适配</a:t>
                </a:r>
                <a:endParaRPr lang="en-US" altLang="zh-CN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算子编程框架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094488" y="37904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访存感知的算子融合机制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1094488" y="53298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存算任务重叠的运行时资源调度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1094488" y="4441700"/>
                <a:ext cx="2181512" cy="705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张量程序与架构的自动映射器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3441600" y="4445650"/>
                <a:ext cx="2095288" cy="705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国产架构的混精训练技术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3" name="矩形 32"/>
            <p:cNvSpPr/>
            <p:nvPr/>
          </p:nvSpPr>
          <p:spPr>
            <a:xfrm>
              <a:off x="1397086" y="1912525"/>
              <a:ext cx="4737688" cy="469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本课题编译软件</a:t>
              </a:r>
              <a:endParaRPr lang="zh-CN" altLang="en-US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问题和难点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80" name="组合 79"/>
          <p:cNvGrpSpPr/>
          <p:nvPr/>
        </p:nvGrpSpPr>
        <p:grpSpPr>
          <a:xfrm>
            <a:off x="430480" y="1790908"/>
            <a:ext cx="4042516" cy="3294664"/>
            <a:chOff x="739034" y="3228975"/>
            <a:chExt cx="4052041" cy="3064282"/>
          </a:xfrm>
        </p:grpSpPr>
        <p:sp>
          <p:nvSpPr>
            <p:cNvPr id="81" name="矩形 80"/>
            <p:cNvSpPr/>
            <p:nvPr/>
          </p:nvSpPr>
          <p:spPr>
            <a:xfrm>
              <a:off x="739034" y="3228975"/>
              <a:ext cx="4052041" cy="30289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875006" y="3274562"/>
              <a:ext cx="3781073" cy="722359"/>
              <a:chOff x="554156" y="3162539"/>
              <a:chExt cx="3762103" cy="100722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554156" y="3220626"/>
                <a:ext cx="3762103" cy="94913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矩形: 圆角 49"/>
              <p:cNvSpPr/>
              <p:nvPr/>
            </p:nvSpPr>
            <p:spPr>
              <a:xfrm>
                <a:off x="746418" y="3660771"/>
                <a:ext cx="1600200" cy="414914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</a:rPr>
                  <a:t>算子类型</a:t>
                </a:r>
                <a:endParaRPr lang="zh-CN" altLang="en-US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矩形: 圆角 50"/>
              <p:cNvSpPr/>
              <p:nvPr/>
            </p:nvSpPr>
            <p:spPr>
              <a:xfrm>
                <a:off x="2524470" y="3660771"/>
                <a:ext cx="1600200" cy="414914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</a:rPr>
                  <a:t>张量形状</a:t>
                </a:r>
                <a:endParaRPr lang="zh-CN" altLang="en-US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554157" y="3162539"/>
                <a:ext cx="3762102" cy="557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b="1"/>
                  <a:t>算子功能需求</a:t>
                </a:r>
                <a:endParaRPr lang="zh-CN" altLang="en-US" sz="2000" b="1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83" name="矩形 82"/>
            <p:cNvSpPr/>
            <p:nvPr/>
          </p:nvSpPr>
          <p:spPr>
            <a:xfrm>
              <a:off x="875006" y="4083214"/>
              <a:ext cx="3781073" cy="186038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875007" y="4029066"/>
              <a:ext cx="37810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/>
                <a:t>底层硬件特性</a:t>
              </a:r>
              <a:endParaRPr lang="zh-CN" altLang="en-US" sz="2000" b="1">
                <a:solidFill>
                  <a:srgbClr val="FF0000"/>
                </a:solidFill>
              </a:endParaRPr>
            </a:p>
          </p:txBody>
        </p:sp>
        <p:sp>
          <p:nvSpPr>
            <p:cNvPr id="85" name="矩形: 圆角 42"/>
            <p:cNvSpPr/>
            <p:nvPr/>
          </p:nvSpPr>
          <p:spPr>
            <a:xfrm>
              <a:off x="2840281" y="5001927"/>
              <a:ext cx="1608269" cy="57336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数据搬运</a:t>
              </a:r>
              <a:endParaRPr lang="en-US" altLang="zh-CN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加速指令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矩形: 圆角 43"/>
            <p:cNvSpPr/>
            <p:nvPr/>
          </p:nvSpPr>
          <p:spPr>
            <a:xfrm>
              <a:off x="2855254" y="4378146"/>
              <a:ext cx="1608269" cy="57336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矩阵乘法</a:t>
              </a:r>
              <a:endParaRPr lang="en-US" altLang="zh-CN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加速指令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1076991" y="4379563"/>
              <a:ext cx="1599516" cy="1441241"/>
              <a:chOff x="1076990" y="4379564"/>
              <a:chExt cx="1612303" cy="1273358"/>
            </a:xfrm>
          </p:grpSpPr>
          <p:sp>
            <p:nvSpPr>
              <p:cNvPr id="90" name="矩形: 圆角 41"/>
              <p:cNvSpPr/>
              <p:nvPr/>
            </p:nvSpPr>
            <p:spPr>
              <a:xfrm>
                <a:off x="1076990" y="4379564"/>
                <a:ext cx="1608269" cy="297567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</a:rPr>
                  <a:t>共享内存大小 </a:t>
                </a:r>
                <a:endParaRPr lang="zh-CN" altLang="en-US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矩形: 圆角 44"/>
              <p:cNvSpPr/>
              <p:nvPr/>
            </p:nvSpPr>
            <p:spPr>
              <a:xfrm>
                <a:off x="1076990" y="5081659"/>
                <a:ext cx="1608269" cy="253113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</a:rPr>
                  <a:t>寄存器数量</a:t>
                </a:r>
                <a:endParaRPr lang="zh-CN" altLang="en-US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矩形: 圆角 45"/>
              <p:cNvSpPr/>
              <p:nvPr/>
            </p:nvSpPr>
            <p:spPr>
              <a:xfrm>
                <a:off x="1076990" y="4726907"/>
                <a:ext cx="1608269" cy="297567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</a:rPr>
                  <a:t>全局内存大小 </a:t>
                </a:r>
                <a:endParaRPr lang="zh-CN" altLang="en-US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矩形: 圆角 47"/>
              <p:cNvSpPr/>
              <p:nvPr/>
            </p:nvSpPr>
            <p:spPr>
              <a:xfrm>
                <a:off x="1081024" y="5399809"/>
                <a:ext cx="1608269" cy="253113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</a:rPr>
                  <a:t>核心数量</a:t>
                </a:r>
                <a:endParaRPr lang="zh-CN" altLang="en-US" b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8" name="文本框 87"/>
            <p:cNvSpPr txBox="1"/>
            <p:nvPr/>
          </p:nvSpPr>
          <p:spPr>
            <a:xfrm>
              <a:off x="875006" y="5949751"/>
              <a:ext cx="3781074" cy="343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硬件架构特性繁杂，利用难</a:t>
              </a:r>
              <a:endParaRPr lang="zh-CN" altLang="en-US" b="1" u="sng" dirty="0"/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2774954" y="5506467"/>
              <a:ext cx="1626458" cy="321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/>
                <a:t>……</a:t>
              </a:r>
              <a:endParaRPr lang="zh-CN" altLang="en-US" b="1"/>
            </a:p>
          </p:txBody>
        </p:sp>
      </p:grpSp>
      <p:sp>
        <p:nvSpPr>
          <p:cNvPr id="98" name="矩形: 圆角 286"/>
          <p:cNvSpPr/>
          <p:nvPr/>
        </p:nvSpPr>
        <p:spPr>
          <a:xfrm>
            <a:off x="430480" y="5923911"/>
            <a:ext cx="11322806" cy="46705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>
                <a:solidFill>
                  <a:srgbClr val="FFFF00"/>
                </a:solidFill>
              </a:rPr>
              <a:t>亟需一种跨平台算子编程框架</a:t>
            </a:r>
            <a:endParaRPr lang="zh-CN" altLang="en-US" sz="2600" b="1">
              <a:solidFill>
                <a:srgbClr val="FFFF00"/>
              </a:solidFill>
            </a:endParaRPr>
          </a:p>
        </p:txBody>
      </p:sp>
      <p:sp>
        <p:nvSpPr>
          <p:cNvPr id="99" name="矩形: 圆角 287"/>
          <p:cNvSpPr/>
          <p:nvPr/>
        </p:nvSpPr>
        <p:spPr>
          <a:xfrm>
            <a:off x="430480" y="5294059"/>
            <a:ext cx="4042516" cy="470232"/>
          </a:xfrm>
          <a:prstGeom prst="roundRect">
            <a:avLst/>
          </a:prstGeom>
          <a:solidFill>
            <a:schemeClr val="bg1"/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0000FF"/>
                </a:solidFill>
              </a:rPr>
              <a:t>性能优化难度</a:t>
            </a:r>
            <a:r>
              <a:rPr lang="zh-CN" altLang="en-US" sz="2400" b="1">
                <a:solidFill>
                  <a:srgbClr val="FF0000"/>
                </a:solidFill>
              </a:rPr>
              <a:t>高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00" name="矩形: 圆角 288"/>
          <p:cNvSpPr/>
          <p:nvPr/>
        </p:nvSpPr>
        <p:spPr>
          <a:xfrm>
            <a:off x="4579483" y="5301344"/>
            <a:ext cx="7173803" cy="470232"/>
          </a:xfrm>
          <a:prstGeom prst="roundRect">
            <a:avLst/>
          </a:prstGeom>
          <a:solidFill>
            <a:schemeClr val="bg1"/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0000FF"/>
                </a:solidFill>
              </a:rPr>
              <a:t>跨平台移植开销</a:t>
            </a:r>
            <a:r>
              <a:rPr lang="zh-CN" altLang="en-US" sz="2400" b="1">
                <a:solidFill>
                  <a:srgbClr val="FF0000"/>
                </a:solidFill>
              </a:rPr>
              <a:t>大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4571211" y="1789449"/>
            <a:ext cx="7219610" cy="3323384"/>
            <a:chOff x="4628671" y="2589372"/>
            <a:chExt cx="7219610" cy="3066203"/>
          </a:xfrm>
        </p:grpSpPr>
        <p:grpSp>
          <p:nvGrpSpPr>
            <p:cNvPr id="102" name="组合 101"/>
            <p:cNvGrpSpPr/>
            <p:nvPr/>
          </p:nvGrpSpPr>
          <p:grpSpPr>
            <a:xfrm>
              <a:off x="5946889" y="3503363"/>
              <a:ext cx="1380814" cy="2152212"/>
              <a:chOff x="1996151" y="2655716"/>
              <a:chExt cx="1969738" cy="3951172"/>
            </a:xfrm>
          </p:grpSpPr>
          <p:sp>
            <p:nvSpPr>
              <p:cNvPr id="138" name="矩形: 圆角 275"/>
              <p:cNvSpPr/>
              <p:nvPr/>
            </p:nvSpPr>
            <p:spPr>
              <a:xfrm>
                <a:off x="2019911" y="2655716"/>
                <a:ext cx="1922221" cy="6472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700" b="1" dirty="0" err="1">
                    <a:solidFill>
                      <a:schemeClr val="tx1"/>
                    </a:solidFill>
                  </a:rPr>
                  <a:t>CUDA</a:t>
                </a:r>
                <a:r>
                  <a:rPr lang="en-US" altLang="zh-CN" sz="1700" b="1" dirty="0">
                    <a:solidFill>
                      <a:schemeClr val="tx1"/>
                    </a:solidFill>
                  </a:rPr>
                  <a:t> C++</a:t>
                </a:r>
                <a:endParaRPr lang="zh-CN" altLang="en-US" sz="17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39" name="Picture 2" descr="《CUDA开发笔记》第2章CUDA安装_cuda samples需要安装吗-CSDN博客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08624" y="3743681"/>
                <a:ext cx="1929108" cy="8157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0" name="图片 13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19911" y="5039501"/>
                <a:ext cx="1917822" cy="820059"/>
              </a:xfrm>
              <a:prstGeom prst="rect">
                <a:avLst/>
              </a:prstGeom>
            </p:spPr>
          </p:pic>
          <p:sp>
            <p:nvSpPr>
              <p:cNvPr id="141" name="文本框 140"/>
              <p:cNvSpPr txBox="1"/>
              <p:nvPr/>
            </p:nvSpPr>
            <p:spPr>
              <a:xfrm>
                <a:off x="1996151" y="5928844"/>
                <a:ext cx="1969738" cy="67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/>
                  <a:t>英伟达</a:t>
                </a:r>
                <a:r>
                  <a:rPr lang="en-US" altLang="zh-CN" b="1"/>
                  <a:t>GPU</a:t>
                </a:r>
                <a:endParaRPr lang="zh-CN" altLang="en-US" b="1"/>
              </a:p>
            </p:txBody>
          </p:sp>
          <p:cxnSp>
            <p:nvCxnSpPr>
              <p:cNvPr id="142" name="直接箭头连接符 141"/>
              <p:cNvCxnSpPr>
                <a:stCxn id="138" idx="2"/>
                <a:endCxn id="139" idx="0"/>
              </p:cNvCxnSpPr>
              <p:nvPr/>
            </p:nvCxnSpPr>
            <p:spPr>
              <a:xfrm flipH="1">
                <a:off x="2973179" y="3302916"/>
                <a:ext cx="7843" cy="44076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箭头连接符 142"/>
              <p:cNvCxnSpPr>
                <a:stCxn id="139" idx="2"/>
                <a:endCxn id="140" idx="0"/>
              </p:cNvCxnSpPr>
              <p:nvPr/>
            </p:nvCxnSpPr>
            <p:spPr>
              <a:xfrm>
                <a:off x="2973179" y="4559426"/>
                <a:ext cx="5643" cy="480075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组合 102"/>
            <p:cNvGrpSpPr/>
            <p:nvPr/>
          </p:nvGrpSpPr>
          <p:grpSpPr>
            <a:xfrm>
              <a:off x="7404886" y="3503363"/>
              <a:ext cx="1347506" cy="2148714"/>
              <a:chOff x="4407256" y="2655716"/>
              <a:chExt cx="1922224" cy="3944751"/>
            </a:xfrm>
          </p:grpSpPr>
          <p:sp>
            <p:nvSpPr>
              <p:cNvPr id="134" name="矩形: 圆角 269"/>
              <p:cNvSpPr/>
              <p:nvPr/>
            </p:nvSpPr>
            <p:spPr>
              <a:xfrm>
                <a:off x="4407259" y="2655716"/>
                <a:ext cx="1922221" cy="64720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700" b="1" dirty="0" err="1">
                    <a:solidFill>
                      <a:schemeClr val="tx1"/>
                    </a:solidFill>
                  </a:rPr>
                  <a:t>MACA</a:t>
                </a:r>
                <a:r>
                  <a:rPr lang="en-US" altLang="zh-CN" sz="1700" b="1" dirty="0">
                    <a:solidFill>
                      <a:schemeClr val="tx1"/>
                    </a:solidFill>
                  </a:rPr>
                  <a:t> C++</a:t>
                </a:r>
                <a:endParaRPr lang="zh-CN" altLang="en-US" sz="17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4407256" y="5922423"/>
                <a:ext cx="1922223" cy="67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/>
                  <a:t>沐曦</a:t>
                </a:r>
                <a:r>
                  <a:rPr lang="en-US" altLang="zh-CN" b="1"/>
                  <a:t>GPU</a:t>
                </a:r>
                <a:endParaRPr lang="zh-CN" altLang="en-US" b="1"/>
              </a:p>
            </p:txBody>
          </p:sp>
          <p:cxnSp>
            <p:nvCxnSpPr>
              <p:cNvPr id="136" name="直接箭头连接符 135"/>
              <p:cNvCxnSpPr>
                <a:stCxn id="134" idx="2"/>
                <a:endCxn id="118" idx="0"/>
              </p:cNvCxnSpPr>
              <p:nvPr/>
            </p:nvCxnSpPr>
            <p:spPr>
              <a:xfrm flipH="1">
                <a:off x="5368368" y="3302916"/>
                <a:ext cx="1" cy="478307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/>
              <p:cNvCxnSpPr>
                <a:stCxn id="118" idx="2"/>
              </p:cNvCxnSpPr>
              <p:nvPr/>
            </p:nvCxnSpPr>
            <p:spPr>
              <a:xfrm>
                <a:off x="5368368" y="4603094"/>
                <a:ext cx="3" cy="436407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组合 103"/>
            <p:cNvGrpSpPr/>
            <p:nvPr/>
          </p:nvGrpSpPr>
          <p:grpSpPr>
            <a:xfrm>
              <a:off x="8815756" y="3503363"/>
              <a:ext cx="1597537" cy="2148714"/>
              <a:chOff x="6803738" y="2655716"/>
              <a:chExt cx="2278896" cy="3944751"/>
            </a:xfrm>
          </p:grpSpPr>
          <p:sp>
            <p:nvSpPr>
              <p:cNvPr id="128" name="矩形: 圆角 263"/>
              <p:cNvSpPr/>
              <p:nvPr/>
            </p:nvSpPr>
            <p:spPr>
              <a:xfrm>
                <a:off x="6982534" y="2655716"/>
                <a:ext cx="1922221" cy="64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700" b="1" dirty="0">
                    <a:solidFill>
                      <a:schemeClr val="tx1"/>
                    </a:solidFill>
                  </a:rPr>
                  <a:t>MUSA C++</a:t>
                </a:r>
                <a:endParaRPr lang="zh-CN" altLang="en-US" sz="17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29" name="图片 12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9718" y="5039501"/>
                <a:ext cx="1846937" cy="820059"/>
              </a:xfrm>
              <a:prstGeom prst="rect">
                <a:avLst/>
              </a:prstGeom>
            </p:spPr>
          </p:pic>
          <p:pic>
            <p:nvPicPr>
              <p:cNvPr id="130" name="图片 12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19718" y="3787349"/>
                <a:ext cx="1846937" cy="695365"/>
              </a:xfrm>
              <a:prstGeom prst="rect">
                <a:avLst/>
              </a:prstGeom>
            </p:spPr>
          </p:pic>
          <p:sp>
            <p:nvSpPr>
              <p:cNvPr id="131" name="文本框 130"/>
              <p:cNvSpPr txBox="1"/>
              <p:nvPr/>
            </p:nvSpPr>
            <p:spPr>
              <a:xfrm>
                <a:off x="6803738" y="5922423"/>
                <a:ext cx="2278896" cy="67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/>
                  <a:t>摩尔线程</a:t>
                </a:r>
                <a:r>
                  <a:rPr lang="en-US" altLang="zh-CN" b="1"/>
                  <a:t>GPU</a:t>
                </a:r>
                <a:endParaRPr lang="zh-CN" altLang="en-US" b="1"/>
              </a:p>
            </p:txBody>
          </p:sp>
          <p:cxnSp>
            <p:nvCxnSpPr>
              <p:cNvPr id="132" name="直接箭头连接符 131"/>
              <p:cNvCxnSpPr>
                <a:stCxn id="128" idx="2"/>
                <a:endCxn id="130" idx="0"/>
              </p:cNvCxnSpPr>
              <p:nvPr/>
            </p:nvCxnSpPr>
            <p:spPr>
              <a:xfrm flipH="1">
                <a:off x="7943187" y="3302916"/>
                <a:ext cx="458" cy="484433"/>
              </a:xfrm>
              <a:prstGeom prst="straightConnector1">
                <a:avLst/>
              </a:prstGeom>
              <a:ln w="38100"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/>
              <p:cNvCxnSpPr>
                <a:stCxn id="130" idx="2"/>
                <a:endCxn id="129" idx="0"/>
              </p:cNvCxnSpPr>
              <p:nvPr/>
            </p:nvCxnSpPr>
            <p:spPr>
              <a:xfrm>
                <a:off x="7943187" y="4482715"/>
                <a:ext cx="0" cy="556786"/>
              </a:xfrm>
              <a:prstGeom prst="straightConnector1">
                <a:avLst/>
              </a:prstGeom>
              <a:ln w="38100"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" name="组合 104"/>
            <p:cNvGrpSpPr/>
            <p:nvPr/>
          </p:nvGrpSpPr>
          <p:grpSpPr>
            <a:xfrm>
              <a:off x="10500777" y="3503363"/>
              <a:ext cx="1347504" cy="2148715"/>
              <a:chOff x="9529533" y="2655716"/>
              <a:chExt cx="1922221" cy="3944752"/>
            </a:xfrm>
          </p:grpSpPr>
          <p:pic>
            <p:nvPicPr>
              <p:cNvPr id="122" name="Picture 4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29533" y="3915957"/>
                <a:ext cx="1922221" cy="4381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3" name="矩形: 圆角 258"/>
              <p:cNvSpPr/>
              <p:nvPr/>
            </p:nvSpPr>
            <p:spPr>
              <a:xfrm>
                <a:off x="9529533" y="2655716"/>
                <a:ext cx="1922221" cy="64720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</a:rPr>
                  <a:t>HIP C++</a:t>
                </a:r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124" name="图片 12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83075" y="5039501"/>
                <a:ext cx="1815135" cy="807798"/>
              </a:xfrm>
              <a:prstGeom prst="rect">
                <a:avLst/>
              </a:prstGeom>
            </p:spPr>
          </p:pic>
          <p:sp>
            <p:nvSpPr>
              <p:cNvPr id="125" name="文本框 124"/>
              <p:cNvSpPr txBox="1"/>
              <p:nvPr/>
            </p:nvSpPr>
            <p:spPr>
              <a:xfrm>
                <a:off x="9551274" y="5922424"/>
                <a:ext cx="1846937" cy="67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/>
                  <a:t>海光</a:t>
                </a:r>
                <a:r>
                  <a:rPr lang="en-US" altLang="zh-CN" b="1"/>
                  <a:t>DCU</a:t>
                </a:r>
                <a:endParaRPr lang="zh-CN" altLang="en-US" b="1"/>
              </a:p>
            </p:txBody>
          </p:sp>
          <p:cxnSp>
            <p:nvCxnSpPr>
              <p:cNvPr id="126" name="直接箭头连接符 125"/>
              <p:cNvCxnSpPr>
                <a:stCxn id="123" idx="2"/>
                <a:endCxn id="122" idx="0"/>
              </p:cNvCxnSpPr>
              <p:nvPr/>
            </p:nvCxnSpPr>
            <p:spPr>
              <a:xfrm>
                <a:off x="10490644" y="3302916"/>
                <a:ext cx="0" cy="613041"/>
              </a:xfrm>
              <a:prstGeom prst="straightConnector1">
                <a:avLst/>
              </a:prstGeom>
              <a:ln w="38100">
                <a:solidFill>
                  <a:srgbClr val="FF4F4F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箭头连接符 126"/>
              <p:cNvCxnSpPr>
                <a:stCxn id="122" idx="2"/>
                <a:endCxn id="124" idx="0"/>
              </p:cNvCxnSpPr>
              <p:nvPr/>
            </p:nvCxnSpPr>
            <p:spPr>
              <a:xfrm flipH="1">
                <a:off x="10490643" y="4354107"/>
                <a:ext cx="1" cy="685394"/>
              </a:xfrm>
              <a:prstGeom prst="straightConnector1">
                <a:avLst/>
              </a:prstGeom>
              <a:ln w="38100">
                <a:solidFill>
                  <a:srgbClr val="FF4F4F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6" name="矩形 105"/>
            <p:cNvSpPr/>
            <p:nvPr/>
          </p:nvSpPr>
          <p:spPr>
            <a:xfrm>
              <a:off x="5963545" y="2724813"/>
              <a:ext cx="1347504" cy="352531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cuda</a:t>
              </a:r>
              <a:r>
                <a:rPr lang="zh-CN" altLang="en-US" b="1">
                  <a:solidFill>
                    <a:schemeClr val="tx1"/>
                  </a:solidFill>
                </a:rPr>
                <a:t>代码</a:t>
              </a:r>
              <a:endParaRPr lang="zh-CN" altLang="en-US" b="1">
                <a:solidFill>
                  <a:schemeClr val="tx1"/>
                </a:solidFill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7404887" y="2724946"/>
              <a:ext cx="1347504" cy="35253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maca</a:t>
              </a:r>
              <a:r>
                <a:rPr lang="zh-CN" altLang="en-US" b="1">
                  <a:solidFill>
                    <a:schemeClr val="tx1"/>
                  </a:solidFill>
                </a:rPr>
                <a:t>代码</a:t>
              </a:r>
              <a:endParaRPr lang="zh-CN" altLang="en-US" b="1">
                <a:solidFill>
                  <a:schemeClr val="tx1"/>
                </a:solidFill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8899702" y="2724813"/>
              <a:ext cx="1340533" cy="352531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musa</a:t>
              </a:r>
              <a:r>
                <a:rPr lang="zh-CN" altLang="en-US" b="1">
                  <a:solidFill>
                    <a:schemeClr val="tx1"/>
                  </a:solidFill>
                </a:rPr>
                <a:t>代码</a:t>
              </a:r>
              <a:endParaRPr lang="zh-CN" altLang="en-US" b="1">
                <a:solidFill>
                  <a:schemeClr val="tx1"/>
                </a:solidFill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10473948" y="2724813"/>
              <a:ext cx="1340533" cy="352531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hip</a:t>
              </a:r>
              <a:r>
                <a:rPr lang="zh-CN" altLang="en-US" b="1">
                  <a:solidFill>
                    <a:schemeClr val="tx1"/>
                  </a:solidFill>
                </a:rPr>
                <a:t>代码</a:t>
              </a:r>
              <a:endParaRPr lang="zh-CN" altLang="en-US" b="1">
                <a:solidFill>
                  <a:schemeClr val="tx1"/>
                </a:solidFill>
              </a:endParaRPr>
            </a:p>
          </p:txBody>
        </p:sp>
        <p:cxnSp>
          <p:nvCxnSpPr>
            <p:cNvPr id="110" name="连接符: 曲线 251"/>
            <p:cNvCxnSpPr>
              <a:stCxn id="106" idx="2"/>
              <a:endCxn id="107" idx="2"/>
            </p:cNvCxnSpPr>
            <p:nvPr/>
          </p:nvCxnSpPr>
          <p:spPr>
            <a:xfrm rot="16200000" flipH="1">
              <a:off x="7357902" y="2356739"/>
              <a:ext cx="133" cy="1441342"/>
            </a:xfrm>
            <a:prstGeom prst="curvedConnector3">
              <a:avLst>
                <a:gd name="adj1" fmla="val 64554887"/>
              </a:avLst>
            </a:prstGeom>
            <a:ln w="38100">
              <a:solidFill>
                <a:srgbClr val="0000FF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连接符: 曲线 252"/>
            <p:cNvCxnSpPr>
              <a:stCxn id="106" idx="2"/>
              <a:endCxn id="108" idx="2"/>
            </p:cNvCxnSpPr>
            <p:nvPr/>
          </p:nvCxnSpPr>
          <p:spPr>
            <a:xfrm rot="16200000" flipH="1">
              <a:off x="8103633" y="1611008"/>
              <a:ext cx="12700" cy="2932672"/>
            </a:xfrm>
            <a:prstGeom prst="curvedConnector3">
              <a:avLst>
                <a:gd name="adj1" fmla="val 1800000"/>
              </a:avLst>
            </a:prstGeom>
            <a:ln w="38100">
              <a:solidFill>
                <a:schemeClr val="accent2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连接符: 曲线 253"/>
            <p:cNvCxnSpPr>
              <a:stCxn id="106" idx="2"/>
              <a:endCxn id="109" idx="2"/>
            </p:cNvCxnSpPr>
            <p:nvPr/>
          </p:nvCxnSpPr>
          <p:spPr>
            <a:xfrm rot="16200000" flipH="1">
              <a:off x="8890756" y="823885"/>
              <a:ext cx="12700" cy="4506918"/>
            </a:xfrm>
            <a:prstGeom prst="curvedConnector3">
              <a:avLst>
                <a:gd name="adj1" fmla="val 1800000"/>
              </a:avLst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文本框 112"/>
            <p:cNvSpPr txBox="1"/>
            <p:nvPr/>
          </p:nvSpPr>
          <p:spPr>
            <a:xfrm>
              <a:off x="4628671" y="2589372"/>
              <a:ext cx="12366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u="sng" dirty="0"/>
                <a:t>代码移植</a:t>
              </a:r>
              <a:endParaRPr lang="en-US" altLang="zh-CN" b="1" u="sng" dirty="0"/>
            </a:p>
            <a:p>
              <a:pPr algn="ctr"/>
              <a:r>
                <a:rPr lang="zh-CN" altLang="en-US" b="1" u="sng" dirty="0">
                  <a:solidFill>
                    <a:srgbClr val="0000FF"/>
                  </a:solidFill>
                </a:rPr>
                <a:t>开销大</a:t>
              </a:r>
              <a:endParaRPr lang="zh-CN" altLang="en-US" b="1" u="sng" dirty="0">
                <a:solidFill>
                  <a:srgbClr val="0000FF"/>
                </a:solidFill>
              </a:endParaRPr>
            </a:p>
          </p:txBody>
        </p:sp>
        <p:pic>
          <p:nvPicPr>
            <p:cNvPr id="114" name="图片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23583" y="4815116"/>
              <a:ext cx="1328807" cy="446689"/>
            </a:xfrm>
            <a:prstGeom prst="rect">
              <a:avLst/>
            </a:prstGeom>
          </p:spPr>
        </p:pic>
        <p:grpSp>
          <p:nvGrpSpPr>
            <p:cNvPr id="115" name="组合 114"/>
            <p:cNvGrpSpPr/>
            <p:nvPr/>
          </p:nvGrpSpPr>
          <p:grpSpPr>
            <a:xfrm>
              <a:off x="4636496" y="3171332"/>
              <a:ext cx="1512222" cy="2412822"/>
              <a:chOff x="4437754" y="1900895"/>
              <a:chExt cx="2494990" cy="4404679"/>
            </a:xfrm>
          </p:grpSpPr>
          <p:sp>
            <p:nvSpPr>
              <p:cNvPr id="119" name="矩形: 圆角 281"/>
              <p:cNvSpPr/>
              <p:nvPr/>
            </p:nvSpPr>
            <p:spPr>
              <a:xfrm>
                <a:off x="4437754" y="2627756"/>
                <a:ext cx="2014442" cy="3677818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硬件生态</a:t>
                </a:r>
                <a:r>
                  <a:rPr lang="zh-CN" altLang="en-US" b="1" dirty="0">
                    <a:solidFill>
                      <a:srgbClr val="0000FF"/>
                    </a:solidFill>
                  </a:rPr>
                  <a:t>碎片化</a:t>
                </a:r>
                <a:endParaRPr lang="en-US" altLang="zh-CN" b="1" dirty="0">
                  <a:solidFill>
                    <a:srgbClr val="0000FF"/>
                  </a:solidFill>
                </a:endParaRPr>
              </a:p>
              <a:p>
                <a:pPr algn="ctr"/>
                <a:endParaRPr lang="en-US" altLang="zh-CN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编程模型</a:t>
                </a:r>
                <a:r>
                  <a:rPr lang="zh-CN" altLang="en-US" b="1" dirty="0">
                    <a:solidFill>
                      <a:srgbClr val="0000FF"/>
                    </a:solidFill>
                  </a:rPr>
                  <a:t>不统一</a:t>
                </a:r>
                <a:endParaRPr lang="zh-CN" altLang="en-US" b="1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20" name="箭头: 下 282"/>
              <p:cNvSpPr/>
              <p:nvPr/>
            </p:nvSpPr>
            <p:spPr>
              <a:xfrm rot="10800000">
                <a:off x="5155927" y="2006939"/>
                <a:ext cx="578096" cy="427478"/>
              </a:xfrm>
              <a:prstGeom prst="downArrow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文本框 120"/>
              <p:cNvSpPr txBox="1"/>
              <p:nvPr/>
            </p:nvSpPr>
            <p:spPr>
              <a:xfrm>
                <a:off x="5699044" y="1900895"/>
                <a:ext cx="1233700" cy="674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/>
                  <a:t>导致</a:t>
                </a:r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7404887" y="4104361"/>
              <a:ext cx="1347504" cy="459743"/>
              <a:chOff x="7404887" y="4104361"/>
              <a:chExt cx="1347504" cy="459743"/>
            </a:xfrm>
          </p:grpSpPr>
          <p:pic>
            <p:nvPicPr>
              <p:cNvPr id="117" name="图片 116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76040" y="4104361"/>
                <a:ext cx="1276350" cy="447675"/>
              </a:xfrm>
              <a:prstGeom prst="rect">
                <a:avLst/>
              </a:prstGeom>
            </p:spPr>
          </p:pic>
          <p:sp>
            <p:nvSpPr>
              <p:cNvPr id="118" name="矩形 117"/>
              <p:cNvSpPr/>
              <p:nvPr/>
            </p:nvSpPr>
            <p:spPr>
              <a:xfrm>
                <a:off x="7404887" y="4116429"/>
                <a:ext cx="1347504" cy="447675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4" name="矩形 143"/>
          <p:cNvSpPr/>
          <p:nvPr/>
        </p:nvSpPr>
        <p:spPr>
          <a:xfrm>
            <a:off x="305260" y="1086953"/>
            <a:ext cx="10599102" cy="518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defTabSz="342900">
              <a:lnSpc>
                <a:spcPts val="3800"/>
              </a:lnSpc>
              <a:spcBef>
                <a:spcPts val="3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大模型算子性能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优化难度高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、跨平台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移植开销大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对比和分析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63" name="组合 62"/>
          <p:cNvGrpSpPr/>
          <p:nvPr/>
        </p:nvGrpSpPr>
        <p:grpSpPr>
          <a:xfrm>
            <a:off x="471330" y="1211214"/>
            <a:ext cx="11239916" cy="4009616"/>
            <a:chOff x="471330" y="1096014"/>
            <a:chExt cx="11239916" cy="4009616"/>
          </a:xfrm>
        </p:grpSpPr>
        <p:grpSp>
          <p:nvGrpSpPr>
            <p:cNvPr id="2" name="组合 1"/>
            <p:cNvGrpSpPr/>
            <p:nvPr/>
          </p:nvGrpSpPr>
          <p:grpSpPr>
            <a:xfrm>
              <a:off x="471330" y="1096014"/>
              <a:ext cx="2324416" cy="4009616"/>
              <a:chOff x="105964" y="921070"/>
              <a:chExt cx="3523347" cy="4819854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105964" y="921070"/>
                <a:ext cx="3523347" cy="4819854"/>
                <a:chOff x="532918" y="1946104"/>
                <a:chExt cx="3941178" cy="4215148"/>
              </a:xfrm>
            </p:grpSpPr>
            <p:sp>
              <p:nvSpPr>
                <p:cNvPr id="27" name="矩形 26"/>
                <p:cNvSpPr/>
                <p:nvPr/>
              </p:nvSpPr>
              <p:spPr>
                <a:xfrm>
                  <a:off x="532918" y="2190700"/>
                  <a:ext cx="3941178" cy="3970552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lgDash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8" name="矩形: 圆角 113"/>
                <p:cNvSpPr/>
                <p:nvPr/>
              </p:nvSpPr>
              <p:spPr>
                <a:xfrm>
                  <a:off x="1196414" y="1946104"/>
                  <a:ext cx="2681864" cy="473650"/>
                </a:xfrm>
                <a:prstGeom prst="roundRect">
                  <a:avLst/>
                </a:prstGeom>
                <a:solidFill>
                  <a:srgbClr val="002060"/>
                </a:solidFill>
                <a:ln w="12700" cap="flat" cmpd="sng" algn="ctr">
                  <a:solidFill>
                    <a:srgbClr val="4874CB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6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  <a:cs typeface="+mn-cs"/>
                    </a:rPr>
                    <a:t>CUDA</a:t>
                  </a:r>
                  <a:endParaRPr kumimoji="0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sp>
            <p:nvSpPr>
              <p:cNvPr id="29" name="矩形 28"/>
              <p:cNvSpPr/>
              <p:nvPr/>
            </p:nvSpPr>
            <p:spPr>
              <a:xfrm>
                <a:off x="251386" y="1586555"/>
                <a:ext cx="3232503" cy="670351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CUDA C++ </a:t>
                </a: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代码</a:t>
                </a: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248417" y="5104769"/>
                <a:ext cx="3232503" cy="415530"/>
              </a:xfrm>
              <a:prstGeom prst="rect">
                <a:avLst/>
              </a:prstGeom>
              <a:solidFill>
                <a:srgbClr val="75BD42">
                  <a:lumMod val="40000"/>
                  <a:lumOff val="6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NVIDIA GPU</a:t>
                </a: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31" name="直接箭头连接符 30"/>
              <p:cNvCxnSpPr>
                <a:stCxn id="29" idx="2"/>
                <a:endCxn id="30" idx="0"/>
              </p:cNvCxnSpPr>
              <p:nvPr/>
            </p:nvCxnSpPr>
            <p:spPr>
              <a:xfrm flipH="1">
                <a:off x="1864669" y="2256906"/>
                <a:ext cx="2969" cy="2847863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ash"/>
                <a:miter lim="800000"/>
                <a:tailEnd type="triangle"/>
              </a:ln>
              <a:effectLst/>
            </p:spPr>
          </p:cxnSp>
          <p:sp>
            <p:nvSpPr>
              <p:cNvPr id="32" name="文本框 31"/>
              <p:cNvSpPr txBox="1"/>
              <p:nvPr/>
            </p:nvSpPr>
            <p:spPr>
              <a:xfrm>
                <a:off x="1877296" y="2651293"/>
                <a:ext cx="1592268" cy="17758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prstClr val="black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用户</a:t>
                </a:r>
                <a:endParaRPr lang="en-US" altLang="zh-CN" b="1" dirty="0">
                  <a:solidFill>
                    <a:prstClr val="black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显式</a:t>
                </a:r>
                <a:endParaRPr lang="en-US" altLang="zh-CN" b="1" dirty="0">
                  <a:solidFill>
                    <a:srgbClr val="FF0000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控制</a:t>
                </a:r>
                <a:endParaRPr lang="en-US" altLang="zh-CN" b="1" dirty="0">
                  <a:solidFill>
                    <a:srgbClr val="FF0000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prstClr val="black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硬件</a:t>
                </a:r>
                <a:endParaRPr lang="en-US" altLang="zh-CN" b="1" dirty="0">
                  <a:solidFill>
                    <a:prstClr val="black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prstClr val="black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细节</a:t>
                </a:r>
                <a:endParaRPr lang="zh-CN" altLang="en-US" b="1" dirty="0">
                  <a:solidFill>
                    <a:prstClr val="black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3154267" y="1096014"/>
              <a:ext cx="3522210" cy="4009615"/>
              <a:chOff x="3792375" y="938868"/>
              <a:chExt cx="3864735" cy="4820909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792375" y="938868"/>
                <a:ext cx="3864735" cy="4820909"/>
                <a:chOff x="532918" y="1945181"/>
                <a:chExt cx="4014617" cy="4216071"/>
              </a:xfrm>
            </p:grpSpPr>
            <p:sp>
              <p:nvSpPr>
                <p:cNvPr id="7" name="矩形 6"/>
                <p:cNvSpPr/>
                <p:nvPr/>
              </p:nvSpPr>
              <p:spPr>
                <a:xfrm>
                  <a:off x="532918" y="2190700"/>
                  <a:ext cx="4014617" cy="3970552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lgDash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" name="矩形: 圆角 68"/>
                <p:cNvSpPr/>
                <p:nvPr/>
              </p:nvSpPr>
              <p:spPr>
                <a:xfrm>
                  <a:off x="1126093" y="1945181"/>
                  <a:ext cx="2879894" cy="473650"/>
                </a:xfrm>
                <a:prstGeom prst="roundRect">
                  <a:avLst/>
                </a:prstGeom>
                <a:solidFill>
                  <a:srgbClr val="002060"/>
                </a:solidFill>
                <a:ln w="12700" cap="flat" cmpd="sng" algn="ctr">
                  <a:solidFill>
                    <a:srgbClr val="4874CB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  <a:cs typeface="+mn-cs"/>
                    </a:rPr>
                    <a:t>TileLang / Triton</a:t>
                  </a:r>
                  <a:endParaRPr kumimoji="0" lang="zh-CN" altLang="en-US" sz="2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3945773" y="1605409"/>
                <a:ext cx="3352641" cy="3933744"/>
                <a:chOff x="3976220" y="1605409"/>
                <a:chExt cx="3615573" cy="3933744"/>
              </a:xfrm>
            </p:grpSpPr>
            <p:sp>
              <p:nvSpPr>
                <p:cNvPr id="11" name="矩形 10"/>
                <p:cNvSpPr/>
                <p:nvPr/>
              </p:nvSpPr>
              <p:spPr>
                <a:xfrm>
                  <a:off x="3979416" y="1605409"/>
                  <a:ext cx="3480849" cy="670351"/>
                </a:xfrm>
                <a:prstGeom prst="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  <a:cs typeface="+mn-cs"/>
                    </a:rPr>
                    <a:t>TileLang/Triton </a:t>
                  </a:r>
                  <a:r>
                    <a: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  <a:cs typeface="+mn-cs"/>
                    </a:rPr>
                    <a:t>代码</a:t>
                  </a:r>
                  <a:endPara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3979416" y="2590956"/>
                  <a:ext cx="3480849" cy="512206"/>
                </a:xfrm>
                <a:prstGeom prst="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  <a:cs typeface="+mn-cs"/>
                    </a:rPr>
                    <a:t>抽象语法树</a:t>
                  </a: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3979416" y="3318437"/>
                  <a:ext cx="3480849" cy="512206"/>
                </a:xfrm>
                <a:prstGeom prst="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  <a:cs typeface="+mn-cs"/>
                    </a:rPr>
                    <a:t>中间表示</a:t>
                  </a: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3976220" y="4248125"/>
                  <a:ext cx="3480849" cy="631086"/>
                </a:xfrm>
                <a:prstGeom prst="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  <a:cs typeface="+mn-cs"/>
                    </a:rPr>
                    <a:t>优化后的中间表示</a:t>
                  </a: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15" name="直接箭头连接符 14"/>
                <p:cNvCxnSpPr>
                  <a:stCxn id="11" idx="2"/>
                  <a:endCxn id="12" idx="0"/>
                </p:cNvCxnSpPr>
                <p:nvPr/>
              </p:nvCxnSpPr>
              <p:spPr>
                <a:xfrm>
                  <a:off x="5719841" y="2275760"/>
                  <a:ext cx="0" cy="315196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sysDot"/>
                  <a:miter lim="800000"/>
                  <a:tailEnd type="triangle"/>
                </a:ln>
                <a:effectLst/>
              </p:spPr>
            </p:cxnSp>
            <p:cxnSp>
              <p:nvCxnSpPr>
                <p:cNvPr id="16" name="直接箭头连接符 15"/>
                <p:cNvCxnSpPr>
                  <a:stCxn id="12" idx="2"/>
                  <a:endCxn id="13" idx="0"/>
                </p:cNvCxnSpPr>
                <p:nvPr/>
              </p:nvCxnSpPr>
              <p:spPr>
                <a:xfrm>
                  <a:off x="5719841" y="3103162"/>
                  <a:ext cx="0" cy="215275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sysDot"/>
                  <a:miter lim="800000"/>
                  <a:tailEnd type="triangle"/>
                </a:ln>
                <a:effectLst/>
              </p:spPr>
            </p:cxnSp>
            <p:cxnSp>
              <p:nvCxnSpPr>
                <p:cNvPr id="17" name="直接箭头连接符 16"/>
                <p:cNvCxnSpPr/>
                <p:nvPr/>
              </p:nvCxnSpPr>
              <p:spPr>
                <a:xfrm>
                  <a:off x="4467269" y="3815582"/>
                  <a:ext cx="0" cy="440273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sysDash"/>
                  <a:miter lim="800000"/>
                  <a:tailEnd type="triangle"/>
                </a:ln>
                <a:effectLst/>
              </p:spPr>
            </p:cxnSp>
            <p:cxnSp>
              <p:nvCxnSpPr>
                <p:cNvPr id="18" name="直接箭头连接符 17"/>
                <p:cNvCxnSpPr/>
                <p:nvPr/>
              </p:nvCxnSpPr>
              <p:spPr>
                <a:xfrm>
                  <a:off x="6371323" y="3815582"/>
                  <a:ext cx="0" cy="440273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sysDash"/>
                  <a:miter lim="800000"/>
                  <a:tailEnd type="triangle"/>
                </a:ln>
                <a:effectLst/>
              </p:spPr>
            </p:cxnSp>
            <p:cxnSp>
              <p:nvCxnSpPr>
                <p:cNvPr id="19" name="直接箭头连接符 18"/>
                <p:cNvCxnSpPr>
                  <a:stCxn id="14" idx="2"/>
                  <a:endCxn id="22" idx="0"/>
                </p:cNvCxnSpPr>
                <p:nvPr/>
              </p:nvCxnSpPr>
              <p:spPr>
                <a:xfrm flipH="1">
                  <a:off x="4806633" y="4879211"/>
                  <a:ext cx="910012" cy="244412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sysDash"/>
                  <a:miter lim="800000"/>
                  <a:tailEnd type="triangle"/>
                </a:ln>
                <a:effectLst/>
              </p:spPr>
            </p:cxnSp>
            <p:sp>
              <p:nvSpPr>
                <p:cNvPr id="20" name="文本框 19"/>
                <p:cNvSpPr txBox="1"/>
                <p:nvPr/>
              </p:nvSpPr>
              <p:spPr>
                <a:xfrm>
                  <a:off x="4493060" y="3857307"/>
                  <a:ext cx="1344467" cy="4070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1600" b="1" kern="0" dirty="0">
                      <a:solidFill>
                        <a:prstClr val="black"/>
                      </a:solidFill>
                      <a:latin typeface="Calibri" panose="020F0502020204030204"/>
                      <a:ea typeface="微软雅黑" panose="020B0503020204020204" pitchFamily="34" charset="-122"/>
                    </a:rPr>
                    <a:t>N</a:t>
                  </a:r>
                  <a:r>
                    <a:rPr kumimoji="0" lang="en-US" altLang="zh-CN" sz="16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</a:rPr>
                    <a:t>vidia</a:t>
                  </a:r>
                  <a:r>
                    <a:rPr kumimoji="0" lang="zh-CN" altLang="en-US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</a:rPr>
                    <a:t>优化</a:t>
                  </a:r>
                  <a:endParaRPr kumimoji="0" lang="zh-CN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6282566" y="3829734"/>
                  <a:ext cx="1309227" cy="4070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</a:rPr>
                    <a:t>AMD</a:t>
                  </a:r>
                  <a:r>
                    <a:rPr kumimoji="0" lang="zh-CN" altLang="en-US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</a:rPr>
                    <a:t>优化</a:t>
                  </a:r>
                  <a:endParaRPr kumimoji="0" lang="zh-CN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3976220" y="5123623"/>
                  <a:ext cx="1660826" cy="415530"/>
                </a:xfrm>
                <a:prstGeom prst="rect">
                  <a:avLst/>
                </a:prstGeom>
                <a:solidFill>
                  <a:srgbClr val="75BD42">
                    <a:lumMod val="40000"/>
                    <a:lumOff val="60000"/>
                  </a:srgbClr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  <a:cs typeface="+mn-cs"/>
                    </a:rPr>
                    <a:t>NVIDIA</a:t>
                  </a:r>
                  <a:r>
                    <a:rPr kumimoji="0" lang="zh-CN" altLang="en-US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  <a:cs typeface="+mn-cs"/>
                    </a:rPr>
                    <a:t> </a:t>
                  </a:r>
                  <a:r>
                    <a:rPr kumimoji="0" lang="en-US" altLang="zh-CN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  <a:cs typeface="+mn-cs"/>
                    </a:rPr>
                    <a:t>GPU</a:t>
                  </a:r>
                  <a:endParaRPr kumimoji="0" lang="zh-CN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5796243" y="5115913"/>
                  <a:ext cx="1660826" cy="415530"/>
                </a:xfrm>
                <a:prstGeom prst="rect">
                  <a:avLst/>
                </a:prstGeom>
                <a:solidFill>
                  <a:srgbClr val="4874CB">
                    <a:lumMod val="40000"/>
                    <a:lumOff val="60000"/>
                  </a:srgbClr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  <a:cs typeface="+mn-cs"/>
                    </a:rPr>
                    <a:t>AMD GPU</a:t>
                  </a:r>
                  <a:endPara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24" name="直接箭头连接符 23"/>
                <p:cNvCxnSpPr>
                  <a:stCxn id="14" idx="2"/>
                  <a:endCxn id="23" idx="0"/>
                </p:cNvCxnSpPr>
                <p:nvPr/>
              </p:nvCxnSpPr>
              <p:spPr>
                <a:xfrm>
                  <a:off x="5716645" y="4879211"/>
                  <a:ext cx="910011" cy="236702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sysDash"/>
                  <a:miter lim="800000"/>
                  <a:tailEnd type="triangle"/>
                </a:ln>
                <a:effectLst/>
              </p:spPr>
            </p:cxnSp>
            <p:sp>
              <p:nvSpPr>
                <p:cNvPr id="25" name="文本框 24"/>
                <p:cNvSpPr txBox="1"/>
                <p:nvPr/>
              </p:nvSpPr>
              <p:spPr>
                <a:xfrm>
                  <a:off x="5671672" y="2222393"/>
                  <a:ext cx="793368" cy="4070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</a:rPr>
                    <a:t>扫描</a:t>
                  </a:r>
                  <a:endParaRPr kumimoji="0" lang="zh-CN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3" name="右大括号 32"/>
              <p:cNvSpPr/>
              <p:nvPr/>
            </p:nvSpPr>
            <p:spPr>
              <a:xfrm>
                <a:off x="7107534" y="2511644"/>
                <a:ext cx="253928" cy="2470218"/>
              </a:xfrm>
              <a:prstGeom prst="rightBrace">
                <a:avLst>
                  <a:gd name="adj1" fmla="val 54015"/>
                  <a:gd name="adj2" fmla="val 50000"/>
                </a:avLst>
              </a:prstGeom>
              <a:noFill/>
              <a:ln w="1270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7268395" y="2554183"/>
                <a:ext cx="388715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编译器隐式控制</a:t>
                </a:r>
                <a:endParaRPr lang="zh-CN" altLang="en-US" b="1" dirty="0">
                  <a:solidFill>
                    <a:srgbClr val="FF0000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7033799" y="1096014"/>
              <a:ext cx="4677447" cy="4009616"/>
              <a:chOff x="6814199" y="1108334"/>
              <a:chExt cx="4677447" cy="4009616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9568151" y="3061211"/>
                <a:ext cx="1439755" cy="305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prstClr val="black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接口实现</a:t>
                </a:r>
                <a:endParaRPr lang="zh-CN" altLang="en-US" b="1" dirty="0">
                  <a:solidFill>
                    <a:prstClr val="black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6" name="组合 35"/>
              <p:cNvGrpSpPr/>
              <p:nvPr/>
            </p:nvGrpSpPr>
            <p:grpSpPr>
              <a:xfrm>
                <a:off x="6814199" y="1108334"/>
                <a:ext cx="4677447" cy="4009616"/>
                <a:chOff x="532917" y="1945210"/>
                <a:chExt cx="4215820" cy="4232531"/>
              </a:xfrm>
            </p:grpSpPr>
            <p:sp>
              <p:nvSpPr>
                <p:cNvPr id="37" name="矩形 36"/>
                <p:cNvSpPr/>
                <p:nvPr/>
              </p:nvSpPr>
              <p:spPr>
                <a:xfrm>
                  <a:off x="532917" y="2190700"/>
                  <a:ext cx="4215820" cy="3987041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lgDash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8" name="矩形: 圆角 137"/>
                <p:cNvSpPr/>
                <p:nvPr/>
              </p:nvSpPr>
              <p:spPr>
                <a:xfrm>
                  <a:off x="1330124" y="1945210"/>
                  <a:ext cx="2681864" cy="473650"/>
                </a:xfrm>
                <a:prstGeom prst="roundRect">
                  <a:avLst/>
                </a:prstGeom>
                <a:solidFill>
                  <a:srgbClr val="002060"/>
                </a:solidFill>
                <a:ln w="12700" cap="flat" cmpd="sng" algn="ctr">
                  <a:solidFill>
                    <a:srgbClr val="4874CB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2600" b="1" kern="0" noProof="0" dirty="0">
                      <a:solidFill>
                        <a:prstClr val="white"/>
                      </a:solidFill>
                      <a:latin typeface="Calibri" panose="020F0502020204030204"/>
                      <a:ea typeface="微软雅黑" panose="020B0503020204020204" pitchFamily="34" charset="-122"/>
                    </a:rPr>
                    <a:t>我们的</a:t>
                  </a:r>
                  <a:r>
                    <a:rPr kumimoji="0" lang="zh-CN" altLang="en-US" sz="2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3020204020204" pitchFamily="34" charset="-122"/>
                      <a:cs typeface="+mn-cs"/>
                    </a:rPr>
                    <a:t>方法</a:t>
                  </a:r>
                  <a:endParaRPr kumimoji="0" lang="zh-CN" altLang="en-US" sz="2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sp>
            <p:nvSpPr>
              <p:cNvPr id="39" name="矩形 38"/>
              <p:cNvSpPr/>
              <p:nvPr/>
            </p:nvSpPr>
            <p:spPr>
              <a:xfrm>
                <a:off x="6937792" y="1670082"/>
                <a:ext cx="4143215" cy="443382"/>
              </a:xfrm>
              <a:prstGeom prst="rect">
                <a:avLst/>
              </a:prstGeom>
              <a:solidFill>
                <a:srgbClr val="75BD42">
                  <a:lumMod val="20000"/>
                  <a:lumOff val="8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基于统一接口的显式控制编程</a:t>
                </a:r>
                <a:r>
                  <a:rPr kumimoji="0" lang="en-US" altLang="zh-CN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C++</a:t>
                </a:r>
                <a:r>
                  <a:rPr kumimoji="0" lang="zh-CN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代码</a:t>
                </a:r>
                <a:endPara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6961359" y="4590909"/>
                <a:ext cx="989020" cy="421450"/>
              </a:xfrm>
              <a:prstGeom prst="rect">
                <a:avLst/>
              </a:prstGeom>
              <a:solidFill>
                <a:srgbClr val="75BD42">
                  <a:lumMod val="40000"/>
                  <a:lumOff val="6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en-US" altLang="zh-CN" sz="2000" b="1" kern="0" dirty="0">
                    <a:solidFill>
                      <a:prstClr val="black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NVIDIA</a:t>
                </a:r>
                <a:endParaRPr lang="zh-CN" altLang="en-US" sz="2000" b="1" kern="0" dirty="0">
                  <a:solidFill>
                    <a:prstClr val="black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6937792" y="3974799"/>
                <a:ext cx="4140079" cy="384265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模块化硬件集成机制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8001797" y="4590909"/>
                <a:ext cx="926073" cy="421450"/>
              </a:xfrm>
              <a:prstGeom prst="rect">
                <a:avLst/>
              </a:prstGeom>
              <a:solidFill>
                <a:srgbClr val="EE822F">
                  <a:lumMod val="20000"/>
                  <a:lumOff val="8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MUSA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8972826" y="4583120"/>
                <a:ext cx="1083438" cy="421450"/>
              </a:xfrm>
              <a:prstGeom prst="rect">
                <a:avLst/>
              </a:prstGeom>
              <a:solidFill>
                <a:srgbClr val="E54C5E">
                  <a:lumMod val="20000"/>
                  <a:lumOff val="8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HYGON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10103708" y="4583120"/>
                <a:ext cx="977299" cy="421450"/>
              </a:xfrm>
              <a:prstGeom prst="rect">
                <a:avLst/>
              </a:prstGeom>
              <a:solidFill>
                <a:srgbClr val="4874CB">
                  <a:lumMod val="20000"/>
                  <a:lumOff val="8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METAX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45" name="直接箭头连接符 44"/>
              <p:cNvCxnSpPr>
                <a:stCxn id="41" idx="2"/>
                <a:endCxn id="40" idx="0"/>
              </p:cNvCxnSpPr>
              <p:nvPr/>
            </p:nvCxnSpPr>
            <p:spPr>
              <a:xfrm flipH="1">
                <a:off x="7455869" y="4359064"/>
                <a:ext cx="1551963" cy="231845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ash"/>
                <a:miter lim="800000"/>
                <a:tailEnd type="triangle"/>
              </a:ln>
              <a:effectLst/>
            </p:spPr>
          </p:cxnSp>
          <p:cxnSp>
            <p:nvCxnSpPr>
              <p:cNvPr id="46" name="直接箭头连接符 45"/>
              <p:cNvCxnSpPr>
                <a:stCxn id="41" idx="2"/>
                <a:endCxn id="42" idx="0"/>
              </p:cNvCxnSpPr>
              <p:nvPr/>
            </p:nvCxnSpPr>
            <p:spPr>
              <a:xfrm flipH="1">
                <a:off x="8464834" y="4359064"/>
                <a:ext cx="542998" cy="231845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ash"/>
                <a:miter lim="800000"/>
                <a:tailEnd type="triangle"/>
              </a:ln>
              <a:effectLst/>
            </p:spPr>
          </p:cxnSp>
          <p:cxnSp>
            <p:nvCxnSpPr>
              <p:cNvPr id="47" name="直接箭头连接符 46"/>
              <p:cNvCxnSpPr>
                <a:stCxn id="41" idx="2"/>
                <a:endCxn id="43" idx="0"/>
              </p:cNvCxnSpPr>
              <p:nvPr/>
            </p:nvCxnSpPr>
            <p:spPr>
              <a:xfrm>
                <a:off x="9007832" y="4359064"/>
                <a:ext cx="506713" cy="224056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ash"/>
                <a:miter lim="800000"/>
                <a:tailEnd type="triangle"/>
              </a:ln>
              <a:effectLst/>
            </p:spPr>
          </p:cxnSp>
          <p:cxnSp>
            <p:nvCxnSpPr>
              <p:cNvPr id="48" name="直接箭头连接符 47"/>
              <p:cNvCxnSpPr>
                <a:stCxn id="41" idx="2"/>
                <a:endCxn id="44" idx="0"/>
              </p:cNvCxnSpPr>
              <p:nvPr/>
            </p:nvCxnSpPr>
            <p:spPr>
              <a:xfrm>
                <a:off x="9007832" y="4359064"/>
                <a:ext cx="1584526" cy="224056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ash"/>
                <a:miter lim="800000"/>
                <a:tailEnd type="triangle"/>
              </a:ln>
              <a:effectLst/>
            </p:spPr>
          </p:cxnSp>
          <p:sp>
            <p:nvSpPr>
              <p:cNvPr id="49" name="矩形 48"/>
              <p:cNvSpPr/>
              <p:nvPr/>
            </p:nvSpPr>
            <p:spPr>
              <a:xfrm>
                <a:off x="6935340" y="3409654"/>
                <a:ext cx="4145668" cy="345589"/>
              </a:xfrm>
              <a:prstGeom prst="rect">
                <a:avLst/>
              </a:prstGeom>
              <a:solidFill>
                <a:srgbClr val="F2BA02">
                  <a:lumMod val="40000"/>
                  <a:lumOff val="6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最终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C++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代码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8754128" y="2379506"/>
                <a:ext cx="2323743" cy="703306"/>
              </a:xfrm>
              <a:prstGeom prst="rect">
                <a:avLst/>
              </a:prstGeom>
              <a:solidFill>
                <a:srgbClr val="4874CB">
                  <a:lumMod val="40000"/>
                  <a:lumOff val="6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面向接口的自动映射</a:t>
                </a:r>
                <a:endPara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优化（</a:t>
                </a:r>
                <a:r>
                  <a:rPr kumimoji="0" lang="zh-CN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隐式</a:t>
                </a:r>
                <a:r>
                  <a:rPr kumimoji="0" lang="zh-CN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）</a:t>
                </a:r>
                <a:endPara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51" name="连接符: 肘形 165"/>
              <p:cNvCxnSpPr>
                <a:stCxn id="41" idx="3"/>
                <a:endCxn id="50" idx="3"/>
              </p:cNvCxnSpPr>
              <p:nvPr/>
            </p:nvCxnSpPr>
            <p:spPr>
              <a:xfrm flipV="1">
                <a:off x="11077871" y="2731159"/>
                <a:ext cx="12700" cy="1435773"/>
              </a:xfrm>
              <a:prstGeom prst="bentConnector3">
                <a:avLst>
                  <a:gd name="adj1" fmla="val 1403150"/>
                </a:avLst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ash"/>
                <a:miter lim="800000"/>
                <a:tailEnd type="triangle"/>
              </a:ln>
              <a:effectLst/>
            </p:spPr>
          </p:cxnSp>
          <p:sp>
            <p:nvSpPr>
              <p:cNvPr id="52" name="文本框 51"/>
              <p:cNvSpPr txBox="1"/>
              <p:nvPr/>
            </p:nvSpPr>
            <p:spPr>
              <a:xfrm>
                <a:off x="11119650" y="2870480"/>
                <a:ext cx="290863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prstClr val="black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硬</a:t>
                </a:r>
                <a:endParaRPr lang="en-US" altLang="zh-CN" b="1" dirty="0">
                  <a:solidFill>
                    <a:prstClr val="black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prstClr val="black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件</a:t>
                </a:r>
                <a:endParaRPr lang="en-US" altLang="zh-CN" b="1" dirty="0">
                  <a:solidFill>
                    <a:prstClr val="black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prstClr val="black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信</a:t>
                </a:r>
                <a:endParaRPr lang="en-US" altLang="zh-CN" b="1" dirty="0">
                  <a:solidFill>
                    <a:prstClr val="black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prstClr val="black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息</a:t>
                </a:r>
                <a:endParaRPr lang="zh-CN" altLang="en-US" b="1" dirty="0">
                  <a:solidFill>
                    <a:prstClr val="black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3" name="直接箭头连接符 52"/>
              <p:cNvCxnSpPr/>
              <p:nvPr/>
            </p:nvCxnSpPr>
            <p:spPr>
              <a:xfrm>
                <a:off x="8601661" y="3236298"/>
                <a:ext cx="7760" cy="155155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ot"/>
                <a:miter lim="800000"/>
                <a:tailEnd type="triangle"/>
              </a:ln>
              <a:effectLst/>
            </p:spPr>
          </p:cxnSp>
          <p:cxnSp>
            <p:nvCxnSpPr>
              <p:cNvPr id="54" name="直接箭头连接符 53"/>
              <p:cNvCxnSpPr>
                <a:stCxn id="49" idx="2"/>
                <a:endCxn id="41" idx="0"/>
              </p:cNvCxnSpPr>
              <p:nvPr/>
            </p:nvCxnSpPr>
            <p:spPr>
              <a:xfrm flipH="1">
                <a:off x="9007832" y="3755243"/>
                <a:ext cx="342" cy="219556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ot"/>
                <a:miter lim="800000"/>
                <a:tailEnd type="triangle"/>
              </a:ln>
              <a:effectLst/>
            </p:spPr>
          </p:cxnSp>
          <p:sp>
            <p:nvSpPr>
              <p:cNvPr id="55" name="文本框 54"/>
              <p:cNvSpPr txBox="1"/>
              <p:nvPr/>
            </p:nvSpPr>
            <p:spPr>
              <a:xfrm>
                <a:off x="8918998" y="2067250"/>
                <a:ext cx="1439755" cy="305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prstClr val="black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接口提取</a:t>
                </a:r>
                <a:endParaRPr lang="zh-CN" altLang="en-US" b="1" dirty="0">
                  <a:solidFill>
                    <a:prstClr val="black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6" name="直接箭头连接符 55"/>
              <p:cNvCxnSpPr>
                <a:stCxn id="39" idx="2"/>
              </p:cNvCxnSpPr>
              <p:nvPr/>
            </p:nvCxnSpPr>
            <p:spPr>
              <a:xfrm>
                <a:off x="9009400" y="2113464"/>
                <a:ext cx="4584" cy="275288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ot"/>
                <a:miter lim="800000"/>
                <a:tailEnd type="triangle"/>
              </a:ln>
              <a:effectLst/>
            </p:spPr>
          </p:cxnSp>
          <p:sp>
            <p:nvSpPr>
              <p:cNvPr id="57" name="矩形 56"/>
              <p:cNvSpPr/>
              <p:nvPr/>
            </p:nvSpPr>
            <p:spPr>
              <a:xfrm>
                <a:off x="6937793" y="2388752"/>
                <a:ext cx="1417416" cy="67924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代码主体</a:t>
                </a:r>
                <a:r>
                  <a:rPr kumimoji="0" lang="zh-CN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显式控制</a:t>
                </a:r>
                <a:r>
                  <a:rPr kumimoji="0" lang="zh-CN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硬件</a:t>
                </a:r>
                <a:endPara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58" name="直接箭头连接符 57"/>
              <p:cNvCxnSpPr/>
              <p:nvPr/>
            </p:nvCxnSpPr>
            <p:spPr>
              <a:xfrm>
                <a:off x="7631848" y="2124324"/>
                <a:ext cx="0" cy="269290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ot"/>
                <a:miter lim="800000"/>
                <a:tailEnd type="triangle"/>
              </a:ln>
              <a:effectLst/>
            </p:spPr>
          </p:cxnSp>
          <p:sp>
            <p:nvSpPr>
              <p:cNvPr id="59" name="文本框 58"/>
              <p:cNvSpPr txBox="1"/>
              <p:nvPr/>
            </p:nvSpPr>
            <p:spPr>
              <a:xfrm>
                <a:off x="7450636" y="2075978"/>
                <a:ext cx="1439755" cy="305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prstClr val="black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代码主体</a:t>
                </a:r>
                <a:endParaRPr lang="zh-CN" altLang="en-US" b="1" dirty="0">
                  <a:solidFill>
                    <a:prstClr val="black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60" name="连接符: 肘形 6"/>
              <p:cNvCxnSpPr/>
              <p:nvPr/>
            </p:nvCxnSpPr>
            <p:spPr>
              <a:xfrm rot="16200000" flipH="1">
                <a:off x="8588402" y="1940653"/>
                <a:ext cx="14818" cy="2269499"/>
              </a:xfrm>
              <a:prstGeom prst="bentConnector3">
                <a:avLst>
                  <a:gd name="adj1" fmla="val 1081718"/>
                </a:avLst>
              </a:prstGeom>
              <a:noFill/>
              <a:ln w="28575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</p:cxnSp>
        </p:grpSp>
      </p:grpSp>
      <p:sp>
        <p:nvSpPr>
          <p:cNvPr id="95" name="文本框 94"/>
          <p:cNvSpPr txBox="1"/>
          <p:nvPr/>
        </p:nvSpPr>
        <p:spPr>
          <a:xfrm>
            <a:off x="438505" y="5432929"/>
            <a:ext cx="2351400" cy="112306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显式控制</a:t>
            </a:r>
            <a:r>
              <a:rPr lang="zh-CN" altLang="en-US" sz="20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性能高</a:t>
            </a:r>
            <a:endParaRPr lang="en-US" altLang="zh-CN" sz="2000" b="1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特定硬件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移植难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难以适配新硬件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3113866" y="5432929"/>
            <a:ext cx="3648529" cy="112306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编译器难精细调优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性能低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可映射到不同硬件</a:t>
            </a:r>
            <a:r>
              <a:rPr lang="zh-CN" altLang="en-US" sz="20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可移植</a:t>
            </a:r>
            <a:endParaRPr lang="en-US" altLang="zh-CN" sz="2000" b="1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编译开发难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新硬件适配慢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080249" y="5432929"/>
            <a:ext cx="4275347" cy="116955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/>
              <a:t>代码主体由用户显式控制</a:t>
            </a:r>
            <a:r>
              <a:rPr lang="zh-CN" altLang="en-US" sz="2000" b="1" dirty="0">
                <a:solidFill>
                  <a:srgbClr val="00B050"/>
                </a:solidFill>
              </a:rPr>
              <a:t>性能高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/>
              <a:t>自动映射到不同硬件</a:t>
            </a:r>
            <a:r>
              <a:rPr lang="zh-CN" altLang="en-US" sz="2000" b="1" dirty="0">
                <a:solidFill>
                  <a:srgbClr val="00B050"/>
                </a:solidFill>
              </a:rPr>
              <a:t>可移植性高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/>
              <a:t>集成仅需对齐接口</a:t>
            </a:r>
            <a:r>
              <a:rPr lang="zh-CN" altLang="en-US" sz="2000" b="1" dirty="0">
                <a:solidFill>
                  <a:srgbClr val="00B050"/>
                </a:solidFill>
              </a:rPr>
              <a:t>新硬件适配快</a:t>
            </a:r>
            <a:endParaRPr lang="zh-CN" altLang="en-US" sz="20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面向多样化算力的高性能易适配算子编程框架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6154230" y="1988570"/>
            <a:ext cx="224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提取张量计算任务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414330" y="933857"/>
            <a:ext cx="8765021" cy="1057888"/>
            <a:chOff x="1414330" y="933857"/>
            <a:chExt cx="8765021" cy="1057888"/>
          </a:xfrm>
        </p:grpSpPr>
        <p:sp>
          <p:nvSpPr>
            <p:cNvPr id="55" name="矩形 54"/>
            <p:cNvSpPr/>
            <p:nvPr/>
          </p:nvSpPr>
          <p:spPr>
            <a:xfrm>
              <a:off x="1414330" y="933857"/>
              <a:ext cx="8765021" cy="1057888"/>
            </a:xfrm>
            <a:prstGeom prst="rect">
              <a:avLst/>
            </a:prstGeom>
            <a:solidFill>
              <a:srgbClr val="75BD42">
                <a:lumMod val="20000"/>
                <a:lumOff val="80000"/>
              </a:srgb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414330" y="964397"/>
              <a:ext cx="87650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基于统一接口的显式控制编程模型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(C++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代码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1729898" y="1491272"/>
              <a:ext cx="2347869" cy="40061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代码主体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4549620" y="1491272"/>
              <a:ext cx="2338082" cy="400613"/>
            </a:xfrm>
            <a:prstGeom prst="rect">
              <a:avLst/>
            </a:prstGeom>
            <a:solidFill>
              <a:srgbClr val="75BD42">
                <a:lumMod val="50000"/>
              </a:srgb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2400" b="1" kern="0" dirty="0">
                  <a:solidFill>
                    <a:prstClr val="whit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待确定参数</a:t>
              </a:r>
              <a:endParaRPr lang="zh-CN" altLang="en-US" sz="2400" b="1" kern="0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7358493" y="1490673"/>
              <a:ext cx="2349005" cy="401886"/>
            </a:xfrm>
            <a:prstGeom prst="rect">
              <a:avLst/>
            </a:prstGeom>
            <a:solidFill>
              <a:srgbClr val="75BD42">
                <a:lumMod val="50000"/>
              </a:srgb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2400" b="1" kern="0" dirty="0">
                  <a:solidFill>
                    <a:prstClr val="whit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统一编程接口</a:t>
              </a:r>
              <a:endParaRPr lang="zh-CN" altLang="en-US" sz="2400" b="1" kern="0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9" name="矩形 58"/>
          <p:cNvSpPr/>
          <p:nvPr/>
        </p:nvSpPr>
        <p:spPr>
          <a:xfrm>
            <a:off x="1414330" y="4226678"/>
            <a:ext cx="8759471" cy="470226"/>
          </a:xfrm>
          <a:prstGeom prst="rect">
            <a:avLst/>
          </a:prstGeom>
          <a:solidFill>
            <a:srgbClr val="F2BA02">
              <a:lumMod val="20000"/>
              <a:lumOff val="80000"/>
            </a:srgbClr>
          </a:solidFill>
          <a:ln w="1905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最终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C++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代码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45598" y="2352711"/>
            <a:ext cx="6528203" cy="1465295"/>
            <a:chOff x="4029614" y="2355511"/>
            <a:chExt cx="6528203" cy="1465295"/>
          </a:xfrm>
        </p:grpSpPr>
        <p:sp>
          <p:nvSpPr>
            <p:cNvPr id="89" name="矩形 88"/>
            <p:cNvSpPr/>
            <p:nvPr/>
          </p:nvSpPr>
          <p:spPr>
            <a:xfrm>
              <a:off x="4029614" y="2355511"/>
              <a:ext cx="6528203" cy="1465295"/>
            </a:xfrm>
            <a:prstGeom prst="rect">
              <a:avLst/>
            </a:prstGeom>
            <a:solidFill>
              <a:srgbClr val="4874CB">
                <a:lumMod val="20000"/>
                <a:lumOff val="80000"/>
              </a:srgb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4029614" y="2370507"/>
              <a:ext cx="6528203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面向编程接口的自动化张量映射技术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4180450" y="2864851"/>
              <a:ext cx="1540196" cy="849404"/>
            </a:xfrm>
            <a:prstGeom prst="rect">
              <a:avLst/>
            </a:prstGeom>
            <a:solidFill>
              <a:srgbClr val="002060"/>
            </a:solidFill>
            <a:ln w="1905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待确定参数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选取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6109021" y="2864851"/>
              <a:ext cx="2000714" cy="849404"/>
            </a:xfrm>
            <a:prstGeom prst="rect">
              <a:avLst/>
            </a:prstGeom>
            <a:solidFill>
              <a:srgbClr val="002060"/>
            </a:solidFill>
            <a:ln w="1905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2000" b="1" kern="0">
                  <a:solidFill>
                    <a:prstClr val="whit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粗粒度张量计算</a:t>
              </a:r>
              <a:endParaRPr lang="en-US" altLang="zh-CN" sz="2000" b="1" ker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000" b="1" kern="0">
                  <a:solidFill>
                    <a:prstClr val="whit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自动调优</a:t>
              </a:r>
              <a:endParaRPr lang="zh-CN" altLang="en-US" sz="2000" b="1" ker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94" name="直接箭头连接符 93"/>
            <p:cNvCxnSpPr>
              <a:stCxn id="92" idx="3"/>
              <a:endCxn id="93" idx="1"/>
            </p:cNvCxnSpPr>
            <p:nvPr/>
          </p:nvCxnSpPr>
          <p:spPr>
            <a:xfrm>
              <a:off x="5720646" y="3289553"/>
              <a:ext cx="388376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95" name="矩形 94"/>
            <p:cNvSpPr/>
            <p:nvPr/>
          </p:nvSpPr>
          <p:spPr>
            <a:xfrm>
              <a:off x="8419225" y="2864851"/>
              <a:ext cx="2000714" cy="849404"/>
            </a:xfrm>
            <a:prstGeom prst="rect">
              <a:avLst/>
            </a:prstGeom>
            <a:solidFill>
              <a:srgbClr val="002060"/>
            </a:solidFill>
            <a:ln w="1905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2000" b="1" kern="0" dirty="0">
                  <a:solidFill>
                    <a:prstClr val="whit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细粒度硬件指令</a:t>
              </a:r>
              <a:endParaRPr lang="en-US" altLang="zh-CN" sz="2000" b="1" kern="0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000" b="1" kern="0" dirty="0">
                  <a:solidFill>
                    <a:prstClr val="whit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高效映射</a:t>
              </a:r>
              <a:endParaRPr lang="zh-CN" altLang="en-US" sz="2000" b="1" kern="0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96" name="直接箭头连接符 95"/>
            <p:cNvCxnSpPr>
              <a:stCxn id="93" idx="3"/>
              <a:endCxn id="95" idx="1"/>
            </p:cNvCxnSpPr>
            <p:nvPr/>
          </p:nvCxnSpPr>
          <p:spPr>
            <a:xfrm>
              <a:off x="8109735" y="3289553"/>
              <a:ext cx="309490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cxnSp>
        <p:nvCxnSpPr>
          <p:cNvPr id="61" name="直接箭头连接符 60"/>
          <p:cNvCxnSpPr/>
          <p:nvPr/>
        </p:nvCxnSpPr>
        <p:spPr>
          <a:xfrm>
            <a:off x="5802444" y="1891885"/>
            <a:ext cx="0" cy="45937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2" name="直接箭头连接符 61"/>
          <p:cNvCxnSpPr/>
          <p:nvPr/>
        </p:nvCxnSpPr>
        <p:spPr>
          <a:xfrm>
            <a:off x="8537111" y="1891885"/>
            <a:ext cx="0" cy="475822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6" name="直接箭头连接符 65"/>
          <p:cNvCxnSpPr>
            <a:stCxn id="59" idx="2"/>
            <a:endCxn id="63" idx="0"/>
          </p:cNvCxnSpPr>
          <p:nvPr/>
        </p:nvCxnSpPr>
        <p:spPr>
          <a:xfrm>
            <a:off x="5794066" y="4696904"/>
            <a:ext cx="1454" cy="31326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7" name="连接符: 肘形 54"/>
          <p:cNvCxnSpPr>
            <a:stCxn id="63" idx="3"/>
          </p:cNvCxnSpPr>
          <p:nvPr/>
        </p:nvCxnSpPr>
        <p:spPr>
          <a:xfrm flipH="1" flipV="1">
            <a:off x="10161905" y="3112837"/>
            <a:ext cx="17446" cy="2757182"/>
          </a:xfrm>
          <a:prstGeom prst="bentConnector4">
            <a:avLst>
              <a:gd name="adj1" fmla="val -1310329"/>
              <a:gd name="adj2" fmla="val 99334"/>
            </a:avLst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8" name="文本框 67"/>
          <p:cNvSpPr txBox="1"/>
          <p:nvPr/>
        </p:nvSpPr>
        <p:spPr>
          <a:xfrm>
            <a:off x="10422997" y="3591417"/>
            <a:ext cx="3478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硬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件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信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息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指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导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411689" y="5010164"/>
            <a:ext cx="8767662" cy="1719709"/>
            <a:chOff x="1795705" y="4965398"/>
            <a:chExt cx="8767662" cy="1719709"/>
          </a:xfrm>
        </p:grpSpPr>
        <p:sp>
          <p:nvSpPr>
            <p:cNvPr id="63" name="矩形 62"/>
            <p:cNvSpPr/>
            <p:nvPr/>
          </p:nvSpPr>
          <p:spPr>
            <a:xfrm>
              <a:off x="1795705" y="4965398"/>
              <a:ext cx="8767662" cy="1719709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795705" y="4993476"/>
              <a:ext cx="8767662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模块化硬件集成机制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1984133" y="6155330"/>
              <a:ext cx="8424953" cy="369984"/>
              <a:chOff x="1636355" y="5796143"/>
              <a:chExt cx="9610855" cy="446783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1636355" y="5796143"/>
                <a:ext cx="1788478" cy="446783"/>
              </a:xfrm>
              <a:prstGeom prst="rect">
                <a:avLst/>
              </a:prstGeom>
              <a:solidFill>
                <a:srgbClr val="75BD42">
                  <a:lumMod val="20000"/>
                  <a:lumOff val="80000"/>
                </a:srgbClr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英伟达</a:t>
                </a: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3593073" y="5796143"/>
                <a:ext cx="1788478" cy="446783"/>
              </a:xfrm>
              <a:prstGeom prst="rect">
                <a:avLst/>
              </a:prstGeom>
              <a:solidFill>
                <a:srgbClr val="E54C5E">
                  <a:lumMod val="20000"/>
                  <a:lumOff val="80000"/>
                </a:srgbClr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海光</a:t>
                </a: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5531099" y="5796143"/>
                <a:ext cx="1788478" cy="446783"/>
              </a:xfrm>
              <a:prstGeom prst="rect">
                <a:avLst/>
              </a:prstGeom>
              <a:solidFill>
                <a:srgbClr val="EE822F">
                  <a:lumMod val="20000"/>
                  <a:lumOff val="80000"/>
                </a:srgbClr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摩尔线程</a:t>
                </a: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7479347" y="5796143"/>
                <a:ext cx="1788478" cy="446783"/>
              </a:xfrm>
              <a:prstGeom prst="rect">
                <a:avLst/>
              </a:prstGeom>
              <a:solidFill>
                <a:srgbClr val="4874CB">
                  <a:lumMod val="40000"/>
                  <a:lumOff val="60000"/>
                </a:srgbClr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沐曦</a:t>
                </a: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9458732" y="5796143"/>
                <a:ext cx="1788478" cy="446783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……</a:t>
                </a: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69" name="矩形 68"/>
            <p:cNvSpPr/>
            <p:nvPr/>
          </p:nvSpPr>
          <p:spPr>
            <a:xfrm>
              <a:off x="1984133" y="5472362"/>
              <a:ext cx="8404010" cy="463820"/>
            </a:xfrm>
            <a:prstGeom prst="rect">
              <a:avLst/>
            </a:prstGeom>
            <a:solidFill>
              <a:srgbClr val="4874CB">
                <a:lumMod val="20000"/>
                <a:lumOff val="80000"/>
              </a:srgb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2205905" y="5541588"/>
              <a:ext cx="3900822" cy="334598"/>
            </a:xfrm>
            <a:prstGeom prst="rect">
              <a:avLst/>
            </a:prstGeom>
            <a:solidFill>
              <a:srgbClr val="002060"/>
            </a:solidFill>
            <a:ln w="1905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硬件指令语义抽象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6267899" y="5536973"/>
              <a:ext cx="3900822" cy="334598"/>
            </a:xfrm>
            <a:prstGeom prst="rect">
              <a:avLst/>
            </a:prstGeom>
            <a:solidFill>
              <a:srgbClr val="002060"/>
            </a:solidFill>
            <a:ln w="1905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硬件指令实现方法注册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71" name="直接连接符 70"/>
            <p:cNvCxnSpPr>
              <a:stCxn id="84" idx="0"/>
            </p:cNvCxnSpPr>
            <p:nvPr/>
          </p:nvCxnSpPr>
          <p:spPr>
            <a:xfrm flipV="1">
              <a:off x="2768030" y="5936182"/>
              <a:ext cx="0" cy="21914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</p:cxnSp>
        <p:cxnSp>
          <p:nvCxnSpPr>
            <p:cNvPr id="72" name="直接连接符 71"/>
            <p:cNvCxnSpPr/>
            <p:nvPr/>
          </p:nvCxnSpPr>
          <p:spPr>
            <a:xfrm flipV="1">
              <a:off x="4481596" y="5936182"/>
              <a:ext cx="0" cy="21914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</p:cxnSp>
        <p:cxnSp>
          <p:nvCxnSpPr>
            <p:cNvPr id="73" name="直接连接符 72"/>
            <p:cNvCxnSpPr>
              <a:endCxn id="69" idx="2"/>
            </p:cNvCxnSpPr>
            <p:nvPr/>
          </p:nvCxnSpPr>
          <p:spPr>
            <a:xfrm flipH="1" flipV="1">
              <a:off x="6186138" y="5936182"/>
              <a:ext cx="1062" cy="21914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</p:cxnSp>
        <p:cxnSp>
          <p:nvCxnSpPr>
            <p:cNvPr id="74" name="直接连接符 73"/>
            <p:cNvCxnSpPr/>
            <p:nvPr/>
          </p:nvCxnSpPr>
          <p:spPr>
            <a:xfrm flipV="1">
              <a:off x="7882960" y="5936182"/>
              <a:ext cx="0" cy="21914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</p:cxnSp>
        <p:cxnSp>
          <p:nvCxnSpPr>
            <p:cNvPr id="75" name="直接连接符 74"/>
            <p:cNvCxnSpPr/>
            <p:nvPr/>
          </p:nvCxnSpPr>
          <p:spPr>
            <a:xfrm flipV="1">
              <a:off x="9648062" y="5936182"/>
              <a:ext cx="0" cy="21914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</p:cxnSp>
      </p:grpSp>
      <p:cxnSp>
        <p:nvCxnSpPr>
          <p:cNvPr id="77" name="直接箭头连接符 76"/>
          <p:cNvCxnSpPr>
            <a:endCxn id="59" idx="0"/>
          </p:cNvCxnSpPr>
          <p:nvPr/>
        </p:nvCxnSpPr>
        <p:spPr>
          <a:xfrm flipH="1">
            <a:off x="5794066" y="3970936"/>
            <a:ext cx="8056" cy="255742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8" name="文本框 77"/>
          <p:cNvSpPr txBox="1"/>
          <p:nvPr/>
        </p:nvSpPr>
        <p:spPr>
          <a:xfrm>
            <a:off x="1307360" y="3836470"/>
            <a:ext cx="2180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代码主体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接口调用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8288281" y="3833493"/>
            <a:ext cx="179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接口具体实现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414330" y="2357902"/>
            <a:ext cx="2083225" cy="146010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400" b="1" kern="0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代码主体显式控制硬件</a:t>
            </a:r>
            <a:endParaRPr lang="zh-CN" altLang="en-US" sz="2400" b="1" kern="0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1" name="直接箭头连接符 80"/>
          <p:cNvCxnSpPr>
            <a:endCxn id="80" idx="0"/>
          </p:cNvCxnSpPr>
          <p:nvPr/>
        </p:nvCxnSpPr>
        <p:spPr>
          <a:xfrm>
            <a:off x="2455942" y="1891885"/>
            <a:ext cx="1" cy="466017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" name="连接符: 肘形 25"/>
          <p:cNvCxnSpPr/>
          <p:nvPr/>
        </p:nvCxnSpPr>
        <p:spPr>
          <a:xfrm rot="16200000" flipH="1">
            <a:off x="5634368" y="1591128"/>
            <a:ext cx="12700" cy="4453757"/>
          </a:xfrm>
          <a:prstGeom prst="bentConnector3">
            <a:avLst>
              <a:gd name="adj1" fmla="val 1188236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基于统一接口的显示控制编程模型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54166" y="1735439"/>
            <a:ext cx="91477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解决思路</a:t>
            </a:r>
            <a:r>
              <a:rPr lang="zh-CN" altLang="en-US" sz="2400" b="1" kern="1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sz="2400" b="1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提取</a:t>
            </a: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统一编程接口，解耦统一抽象和编程空间</a:t>
            </a:r>
            <a:endParaRPr lang="en-US" altLang="zh-CN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en-US" altLang="zh-CN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(2)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代码</a:t>
            </a: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主体由用户直接控制，提高用户显式控制硬件的能力</a:t>
            </a:r>
            <a:endParaRPr lang="zh-CN" altLang="en-US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7390" y="1133745"/>
            <a:ext cx="9812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现有编程模型表达能力受限导致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用户硬件控制能力受限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62595" y="3233289"/>
            <a:ext cx="4531982" cy="2764904"/>
            <a:chOff x="382548" y="3489458"/>
            <a:chExt cx="5452644" cy="3024467"/>
          </a:xfrm>
        </p:grpSpPr>
        <p:sp>
          <p:nvSpPr>
            <p:cNvPr id="17" name="矩形 16"/>
            <p:cNvSpPr/>
            <p:nvPr/>
          </p:nvSpPr>
          <p:spPr>
            <a:xfrm>
              <a:off x="382550" y="5835195"/>
              <a:ext cx="5452642" cy="67873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" panose="02020603050405020304" pitchFamily="18" charset="0"/>
                  <a:ea typeface="黑体" panose="02010609060101010101" pitchFamily="49" charset="-122"/>
                  <a:cs typeface="Times" panose="02020603050405020304" pitchFamily="18" charset="0"/>
                </a:rPr>
                <a:t>Triton/TileLang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统一抽象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8" name="箭头: 下 17"/>
            <p:cNvSpPr/>
            <p:nvPr/>
          </p:nvSpPr>
          <p:spPr>
            <a:xfrm rot="10800000">
              <a:off x="2955685" y="5448697"/>
              <a:ext cx="306371" cy="282804"/>
            </a:xfrm>
            <a:prstGeom prst="downArrow">
              <a:avLst/>
            </a:prstGeom>
            <a:solidFill>
              <a:sysClr val="window" lastClr="FFFFFF">
                <a:lumMod val="85000"/>
              </a:sys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82550" y="4666273"/>
              <a:ext cx="5452642" cy="67873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" panose="02020603050405020304" pitchFamily="18" charset="0"/>
                  <a:ea typeface="黑体" panose="02010609060101010101" pitchFamily="49" charset="-122"/>
                  <a:cs typeface="Times" panose="02020603050405020304" pitchFamily="18" charset="0"/>
                </a:rPr>
                <a:t>Triton/TileLang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编程模型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箭头: 下 19"/>
            <p:cNvSpPr/>
            <p:nvPr/>
          </p:nvSpPr>
          <p:spPr>
            <a:xfrm rot="10800000">
              <a:off x="2955683" y="4289211"/>
              <a:ext cx="306371" cy="282804"/>
            </a:xfrm>
            <a:prstGeom prst="downArrow">
              <a:avLst/>
            </a:prstGeom>
            <a:solidFill>
              <a:sysClr val="window" lastClr="FFFFFF">
                <a:lumMod val="85000"/>
              </a:sys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82548" y="3489458"/>
              <a:ext cx="5452642" cy="67873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8575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用户硬件控制能力受限，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性能低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262054" y="5408337"/>
              <a:ext cx="1078890" cy="404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限制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262052" y="4253028"/>
              <a:ext cx="1078893" cy="404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导致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781294" y="3235010"/>
            <a:ext cx="5689611" cy="2685991"/>
            <a:chOff x="5868702" y="3235010"/>
            <a:chExt cx="5689611" cy="2685991"/>
          </a:xfrm>
        </p:grpSpPr>
        <p:sp>
          <p:nvSpPr>
            <p:cNvPr id="48" name="矩形 47"/>
            <p:cNvSpPr/>
            <p:nvPr/>
          </p:nvSpPr>
          <p:spPr>
            <a:xfrm>
              <a:off x="6020267" y="5377712"/>
              <a:ext cx="5180665" cy="5432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最终</a:t>
              </a:r>
              <a:r>
                <a:rPr lang="en-US" altLang="zh-CN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C++</a:t>
              </a:r>
              <a:r>
                <a:rPr lang="zh-CN" altLang="en-US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代码</a:t>
              </a:r>
              <a:endParaRPr lang="zh-CN" altLang="en-US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8673152" y="4432877"/>
              <a:ext cx="2527780" cy="5635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统一抽象与映射</a:t>
              </a:r>
              <a:endParaRPr lang="zh-CN" altLang="en-US" sz="20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51" name="直接箭头连接符 50"/>
            <p:cNvCxnSpPr>
              <a:endCxn id="48" idx="0"/>
            </p:cNvCxnSpPr>
            <p:nvPr/>
          </p:nvCxnSpPr>
          <p:spPr>
            <a:xfrm>
              <a:off x="8610600" y="5137440"/>
              <a:ext cx="0" cy="24027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连接符: 肘形 51"/>
            <p:cNvCxnSpPr/>
            <p:nvPr/>
          </p:nvCxnSpPr>
          <p:spPr>
            <a:xfrm rot="16200000" flipH="1">
              <a:off x="8529777" y="3627945"/>
              <a:ext cx="12700" cy="2706386"/>
            </a:xfrm>
            <a:prstGeom prst="bentConnector3">
              <a:avLst>
                <a:gd name="adj1" fmla="val 1316417"/>
              </a:avLst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/>
            <p:cNvSpPr txBox="1"/>
            <p:nvPr/>
          </p:nvSpPr>
          <p:spPr>
            <a:xfrm>
              <a:off x="9937042" y="4983256"/>
              <a:ext cx="16212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接口具体实现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6020267" y="4444753"/>
              <a:ext cx="2378835" cy="5635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rgbClr val="0000FF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用户直接显式控制</a:t>
              </a:r>
              <a:endPara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5868702" y="4996395"/>
              <a:ext cx="2241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代码主体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接口调用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6020267" y="3246959"/>
              <a:ext cx="5180665" cy="836613"/>
            </a:xfrm>
            <a:prstGeom prst="rect">
              <a:avLst/>
            </a:prstGeom>
            <a:solidFill>
              <a:srgbClr val="75BD42">
                <a:lumMod val="20000"/>
                <a:lumOff val="80000"/>
              </a:srgb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6020267" y="3235010"/>
              <a:ext cx="5180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基于统一接口的显式控制编程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C++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代码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6131167" y="3640276"/>
              <a:ext cx="1461841" cy="35484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代码主体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7886796" y="3640276"/>
              <a:ext cx="1455747" cy="354845"/>
            </a:xfrm>
            <a:prstGeom prst="rect">
              <a:avLst/>
            </a:prstGeom>
            <a:solidFill>
              <a:srgbClr val="75BD42">
                <a:lumMod val="50000"/>
              </a:srgb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b="1" kern="0" dirty="0">
                  <a:solidFill>
                    <a:prstClr val="whit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待确定参数</a:t>
              </a:r>
              <a:endParaRPr lang="zh-CN" altLang="en-US" b="1" kern="0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9635669" y="3639745"/>
              <a:ext cx="1462548" cy="355972"/>
            </a:xfrm>
            <a:prstGeom prst="rect">
              <a:avLst/>
            </a:prstGeom>
            <a:solidFill>
              <a:srgbClr val="75BD42">
                <a:lumMod val="50000"/>
              </a:srgb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1600" b="1" kern="0" dirty="0">
                  <a:solidFill>
                    <a:prstClr val="whit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统一编程接口</a:t>
              </a:r>
              <a:endParaRPr lang="zh-CN" altLang="en-US" sz="1600" b="1" kern="0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5" name="直接箭头连接符 44"/>
            <p:cNvCxnSpPr>
              <a:stCxn id="63" idx="2"/>
            </p:cNvCxnSpPr>
            <p:nvPr/>
          </p:nvCxnSpPr>
          <p:spPr>
            <a:xfrm>
              <a:off x="6862088" y="3995121"/>
              <a:ext cx="0" cy="436733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>
              <a:off x="9043786" y="3996144"/>
              <a:ext cx="0" cy="436733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/>
            <p:nvPr/>
          </p:nvCxnSpPr>
          <p:spPr>
            <a:xfrm>
              <a:off x="10315302" y="4008020"/>
              <a:ext cx="0" cy="436733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面向编程接口的自动化张量映射技术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654166" y="1735439"/>
            <a:ext cx="105203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解决思路：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根据</a:t>
            </a: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用户传入编程接口的硬件控制信息，自动生成该编程接口特定张量计算语义的具体硬件实现，提高张量映射的质量和效率</a:t>
            </a:r>
            <a:endParaRPr lang="zh-CN" altLang="en-US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77390" y="1133745"/>
            <a:ext cx="11728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预定义规则难以覆盖多样化编程接口和硬件种类导致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张量映射质量低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05991" y="3191605"/>
            <a:ext cx="9770594" cy="3083644"/>
            <a:chOff x="1210703" y="3238670"/>
            <a:chExt cx="9770594" cy="3083644"/>
          </a:xfrm>
        </p:grpSpPr>
        <p:grpSp>
          <p:nvGrpSpPr>
            <p:cNvPr id="3" name="组合 2"/>
            <p:cNvGrpSpPr/>
            <p:nvPr/>
          </p:nvGrpSpPr>
          <p:grpSpPr>
            <a:xfrm>
              <a:off x="1210703" y="3238670"/>
              <a:ext cx="3378304" cy="3083644"/>
              <a:chOff x="654166" y="3427028"/>
              <a:chExt cx="3378304" cy="3083644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654166" y="3427028"/>
                <a:ext cx="3378304" cy="53244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>
                    <a:solidFill>
                      <a:schemeClr val="tx1"/>
                    </a:solidFill>
                  </a:rPr>
                  <a:t>Triton/TileLang</a:t>
                </a:r>
                <a:r>
                  <a:rPr lang="zh-CN" altLang="en-US" sz="2400" b="1">
                    <a:solidFill>
                      <a:schemeClr val="tx1"/>
                    </a:solidFill>
                  </a:rPr>
                  <a:t>代码</a:t>
                </a: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7" name="直接箭头连接符 36"/>
              <p:cNvCxnSpPr>
                <a:stCxn id="36" idx="2"/>
                <a:endCxn id="38" idx="0"/>
              </p:cNvCxnSpPr>
              <p:nvPr/>
            </p:nvCxnSpPr>
            <p:spPr>
              <a:xfrm>
                <a:off x="2343318" y="3959470"/>
                <a:ext cx="0" cy="32035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矩形 37"/>
              <p:cNvSpPr/>
              <p:nvPr/>
            </p:nvSpPr>
            <p:spPr>
              <a:xfrm>
                <a:off x="654166" y="4279823"/>
                <a:ext cx="3378304" cy="53244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/>
                    </a:solidFill>
                  </a:rPr>
                  <a:t>预定义优化规则</a:t>
                </a:r>
                <a:r>
                  <a:rPr lang="en-US" altLang="zh-CN" sz="2400" b="1">
                    <a:solidFill>
                      <a:schemeClr val="tx1"/>
                    </a:solidFill>
                  </a:rPr>
                  <a:t>PASS1</a:t>
                </a: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654166" y="5132618"/>
                <a:ext cx="3378304" cy="53244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/>
                    </a:solidFill>
                  </a:rPr>
                  <a:t>预定义优化规则</a:t>
                </a:r>
                <a:r>
                  <a:rPr lang="en-US" altLang="zh-CN" sz="2400" b="1">
                    <a:solidFill>
                      <a:schemeClr val="tx1"/>
                    </a:solidFill>
                  </a:rPr>
                  <a:t>PASS2</a:t>
                </a: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0" name="直接箭头连接符 39"/>
              <p:cNvCxnSpPr>
                <a:stCxn id="38" idx="2"/>
                <a:endCxn id="39" idx="0"/>
              </p:cNvCxnSpPr>
              <p:nvPr/>
            </p:nvCxnSpPr>
            <p:spPr>
              <a:xfrm>
                <a:off x="2343318" y="4812265"/>
                <a:ext cx="0" cy="32035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矩形 40"/>
              <p:cNvSpPr/>
              <p:nvPr/>
            </p:nvSpPr>
            <p:spPr>
              <a:xfrm>
                <a:off x="654166" y="5978230"/>
                <a:ext cx="3378304" cy="53244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>
                    <a:solidFill>
                      <a:schemeClr val="tx1"/>
                    </a:solidFill>
                  </a:rPr>
                  <a:t>……</a:t>
                </a: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直接箭头连接符 41"/>
              <p:cNvCxnSpPr>
                <a:stCxn id="39" idx="2"/>
                <a:endCxn id="41" idx="0"/>
              </p:cNvCxnSpPr>
              <p:nvPr/>
            </p:nvCxnSpPr>
            <p:spPr>
              <a:xfrm>
                <a:off x="2343318" y="5665060"/>
                <a:ext cx="0" cy="31317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59"/>
            <p:cNvGrpSpPr/>
            <p:nvPr/>
          </p:nvGrpSpPr>
          <p:grpSpPr>
            <a:xfrm>
              <a:off x="5374715" y="3238670"/>
              <a:ext cx="5606582" cy="3083644"/>
              <a:chOff x="6487049" y="3429000"/>
              <a:chExt cx="5517319" cy="3244980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6487049" y="3429000"/>
                <a:ext cx="5517315" cy="324498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6487050" y="3464236"/>
                <a:ext cx="5517314" cy="518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600" b="1" dirty="0"/>
                  <a:t>面向编程接口的自动化张量映射技术</a:t>
                </a:r>
                <a:endParaRPr lang="zh-CN" altLang="en-US" sz="2600" b="1" dirty="0"/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6757216" y="4118000"/>
                <a:ext cx="3746840" cy="62035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/>
                  <a:t>待确定参数选取</a:t>
                </a:r>
                <a:endParaRPr lang="zh-CN" altLang="en-US" sz="2400" b="1"/>
              </a:p>
            </p:txBody>
          </p:sp>
          <p:cxnSp>
            <p:nvCxnSpPr>
              <p:cNvPr id="64" name="直接箭头连接符 63"/>
              <p:cNvCxnSpPr>
                <a:stCxn id="63" idx="2"/>
                <a:endCxn id="65" idx="0"/>
              </p:cNvCxnSpPr>
              <p:nvPr/>
            </p:nvCxnSpPr>
            <p:spPr>
              <a:xfrm>
                <a:off x="8630636" y="4738352"/>
                <a:ext cx="0" cy="259238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矩形 64"/>
              <p:cNvSpPr/>
              <p:nvPr/>
            </p:nvSpPr>
            <p:spPr>
              <a:xfrm>
                <a:off x="6757216" y="4997590"/>
                <a:ext cx="3746840" cy="62035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/>
                  <a:t>粗粒度张量计算自动调优</a:t>
                </a:r>
                <a:endParaRPr lang="zh-CN" altLang="en-US" sz="2400" b="1"/>
              </a:p>
            </p:txBody>
          </p:sp>
          <p:cxnSp>
            <p:nvCxnSpPr>
              <p:cNvPr id="66" name="直接箭头连接符 65"/>
              <p:cNvCxnSpPr>
                <a:stCxn id="65" idx="2"/>
                <a:endCxn id="67" idx="0"/>
              </p:cNvCxnSpPr>
              <p:nvPr/>
            </p:nvCxnSpPr>
            <p:spPr>
              <a:xfrm>
                <a:off x="8630636" y="5617942"/>
                <a:ext cx="0" cy="27168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矩形 66"/>
              <p:cNvSpPr/>
              <p:nvPr/>
            </p:nvSpPr>
            <p:spPr>
              <a:xfrm>
                <a:off x="6757216" y="5889622"/>
                <a:ext cx="3746840" cy="62035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/>
                  <a:t>细粒度硬件指令高效映射</a:t>
                </a:r>
                <a:endParaRPr lang="zh-CN" altLang="en-US" sz="2400" b="1"/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10504056" y="4033254"/>
                <a:ext cx="15003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确定形状等计算语义</a:t>
                </a:r>
                <a:endParaRPr lang="zh-CN" altLang="en-US" sz="2000" b="1" dirty="0"/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10503232" y="4949754"/>
                <a:ext cx="15003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b="1"/>
                  <a:t>自动生成循环结构等</a:t>
                </a:r>
                <a:endParaRPr lang="zh-CN" altLang="en-US" sz="2000" b="1"/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10503232" y="5821863"/>
                <a:ext cx="15003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b="1"/>
                  <a:t>选取已有硬件加速指令</a:t>
                </a:r>
                <a:endParaRPr lang="zh-CN" altLang="en-US" sz="2000" b="1"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模块化硬件集成机制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177390" y="1133745"/>
            <a:ext cx="11728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现有编译优化流程与硬件耦合度高导致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开发难度高、适配周期长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54166" y="1735439"/>
            <a:ext cx="100188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解决思路：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通过</a:t>
            </a: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对硬件语义进行抽象，仅需对特定语义的硬件具体实现进行注册和对齐，即可适配新硬件，开发难度低</a:t>
            </a:r>
            <a:endParaRPr lang="zh-CN" altLang="en-US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638780" y="3059937"/>
            <a:ext cx="4738328" cy="3335767"/>
            <a:chOff x="1035475" y="3187679"/>
            <a:chExt cx="4738328" cy="3335767"/>
          </a:xfrm>
        </p:grpSpPr>
        <p:sp>
          <p:nvSpPr>
            <p:cNvPr id="34" name="文本框 33"/>
            <p:cNvSpPr txBox="1"/>
            <p:nvPr/>
          </p:nvSpPr>
          <p:spPr>
            <a:xfrm>
              <a:off x="5337185" y="3908043"/>
              <a:ext cx="3924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</a:rPr>
                <a:t>未开发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035475" y="4415875"/>
              <a:ext cx="47267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</a:rPr>
                <a:t>已开发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1540787" y="3187679"/>
              <a:ext cx="3637627" cy="48080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2700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跨平台代码</a:t>
              </a: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矩形: 圆角 41"/>
            <p:cNvSpPr/>
            <p:nvPr/>
          </p:nvSpPr>
          <p:spPr>
            <a:xfrm>
              <a:off x="1506668" y="6042644"/>
              <a:ext cx="1082937" cy="480802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硬件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A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矩形: 圆角 42"/>
            <p:cNvSpPr/>
            <p:nvPr/>
          </p:nvSpPr>
          <p:spPr>
            <a:xfrm>
              <a:off x="2813995" y="6042644"/>
              <a:ext cx="1075822" cy="480802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硬件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B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矩形: 圆角 43"/>
            <p:cNvSpPr/>
            <p:nvPr/>
          </p:nvSpPr>
          <p:spPr>
            <a:xfrm>
              <a:off x="4075590" y="6040852"/>
              <a:ext cx="1101533" cy="480802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2000" b="1" kern="0">
                  <a:solidFill>
                    <a:prstClr val="white"/>
                  </a:solidFill>
                  <a:latin typeface="Calibri" panose="020F0502020204030204"/>
                  <a:ea typeface="微软雅黑" panose="020B0503020204020204" pitchFamily="34" charset="-122"/>
                </a:rPr>
                <a:t>硬件</a:t>
              </a:r>
              <a:r>
                <a:rPr lang="en-US" altLang="zh-CN" sz="2000" b="1" kern="0">
                  <a:solidFill>
                    <a:prstClr val="white"/>
                  </a:solidFill>
                  <a:latin typeface="Calibri" panose="020F0502020204030204"/>
                  <a:ea typeface="微软雅黑" panose="020B0503020204020204" pitchFamily="34" charset="-122"/>
                </a:rPr>
                <a:t>C</a:t>
              </a:r>
              <a:endParaRPr lang="en-US" altLang="zh-CN" sz="2000" b="1" kern="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grpSp>
          <p:nvGrpSpPr>
            <p:cNvPr id="120" name="组合 119"/>
            <p:cNvGrpSpPr/>
            <p:nvPr/>
          </p:nvGrpSpPr>
          <p:grpSpPr>
            <a:xfrm>
              <a:off x="1506668" y="4027092"/>
              <a:ext cx="3670455" cy="1693814"/>
              <a:chOff x="1056186" y="3899337"/>
              <a:chExt cx="3670455" cy="1693814"/>
            </a:xfrm>
          </p:grpSpPr>
          <p:sp>
            <p:nvSpPr>
              <p:cNvPr id="52" name="矩形: 圆角 51"/>
              <p:cNvSpPr/>
              <p:nvPr/>
            </p:nvSpPr>
            <p:spPr>
              <a:xfrm>
                <a:off x="1056186" y="3899337"/>
                <a:ext cx="1082937" cy="37366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A</a:t>
                </a: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优化</a:t>
                </a:r>
                <a:r>
                  <a:rPr kumimoji="0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1</a:t>
                </a:r>
                <a:endPara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1056186" y="4568455"/>
                <a:ext cx="1082937" cy="373663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A</a:t>
                </a: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优化</a:t>
                </a: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2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" name="矩形: 圆角 53"/>
              <p:cNvSpPr/>
              <p:nvPr/>
            </p:nvSpPr>
            <p:spPr>
              <a:xfrm>
                <a:off x="1056186" y="5204378"/>
                <a:ext cx="1082937" cy="373663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A</a:t>
                </a: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优化</a:t>
                </a: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3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55" name="直接箭头连接符 54"/>
              <p:cNvCxnSpPr>
                <a:stCxn id="52" idx="2"/>
                <a:endCxn id="53" idx="0"/>
              </p:cNvCxnSpPr>
              <p:nvPr/>
            </p:nvCxnSpPr>
            <p:spPr>
              <a:xfrm>
                <a:off x="1597655" y="4273001"/>
                <a:ext cx="0" cy="295454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B05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56" name="直接箭头连接符 55"/>
              <p:cNvCxnSpPr>
                <a:stCxn id="53" idx="2"/>
                <a:endCxn id="54" idx="0"/>
              </p:cNvCxnSpPr>
              <p:nvPr/>
            </p:nvCxnSpPr>
            <p:spPr>
              <a:xfrm>
                <a:off x="1597655" y="4942118"/>
                <a:ext cx="0" cy="26226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B05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7" name="矩形: 圆角 56"/>
              <p:cNvSpPr/>
              <p:nvPr/>
            </p:nvSpPr>
            <p:spPr>
              <a:xfrm>
                <a:off x="2363513" y="3914456"/>
                <a:ext cx="1082937" cy="373664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B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优化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1</a:t>
                </a:r>
                <a:endPara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矩形: 圆角 57"/>
              <p:cNvSpPr/>
              <p:nvPr/>
            </p:nvSpPr>
            <p:spPr>
              <a:xfrm>
                <a:off x="2363513" y="4583565"/>
                <a:ext cx="1085658" cy="37366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B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优化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2</a:t>
                </a:r>
                <a:endPara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" name="矩形: 圆角 58"/>
              <p:cNvSpPr/>
              <p:nvPr/>
            </p:nvSpPr>
            <p:spPr>
              <a:xfrm>
                <a:off x="2356398" y="5219488"/>
                <a:ext cx="1082937" cy="37366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B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优化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3</a:t>
                </a:r>
                <a:endPara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60" name="直接箭头连接符 59"/>
              <p:cNvCxnSpPr>
                <a:stCxn id="57" idx="2"/>
                <a:endCxn id="58" idx="0"/>
              </p:cNvCxnSpPr>
              <p:nvPr/>
            </p:nvCxnSpPr>
            <p:spPr>
              <a:xfrm>
                <a:off x="2904982" y="4288120"/>
                <a:ext cx="1360" cy="295445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61" name="直接箭头连接符 60"/>
              <p:cNvCxnSpPr>
                <a:stCxn id="58" idx="2"/>
                <a:endCxn id="59" idx="0"/>
              </p:cNvCxnSpPr>
              <p:nvPr/>
            </p:nvCxnSpPr>
            <p:spPr>
              <a:xfrm flipH="1">
                <a:off x="2897867" y="4957228"/>
                <a:ext cx="8475" cy="262260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62" name="矩形: 圆角 61"/>
              <p:cNvSpPr/>
              <p:nvPr/>
            </p:nvSpPr>
            <p:spPr>
              <a:xfrm>
                <a:off x="3625108" y="3914456"/>
                <a:ext cx="1082937" cy="373664"/>
              </a:xfrm>
              <a:prstGeom prst="roundRect">
                <a:avLst/>
              </a:prstGeom>
              <a:solidFill>
                <a:sysClr val="window" lastClr="FFFFFF">
                  <a:lumMod val="95000"/>
                </a:sysClr>
              </a:solidFill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C</a:t>
                </a:r>
                <a:r>
                  <a: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优化</a:t>
                </a: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1</a:t>
                </a:r>
                <a:endPara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" name="矩形: 圆角 62"/>
              <p:cNvSpPr/>
              <p:nvPr/>
            </p:nvSpPr>
            <p:spPr>
              <a:xfrm>
                <a:off x="3625108" y="4583565"/>
                <a:ext cx="1082937" cy="373663"/>
              </a:xfrm>
              <a:prstGeom prst="roundRect">
                <a:avLst/>
              </a:prstGeom>
              <a:solidFill>
                <a:sysClr val="window" lastClr="FFFFFF">
                  <a:lumMod val="95000"/>
                </a:sysClr>
              </a:solidFill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C</a:t>
                </a:r>
                <a:r>
                  <a: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优化</a:t>
                </a: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2</a:t>
                </a:r>
                <a:endPara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4" name="矩形: 圆角 63"/>
              <p:cNvSpPr/>
              <p:nvPr/>
            </p:nvSpPr>
            <p:spPr>
              <a:xfrm>
                <a:off x="3625108" y="5219488"/>
                <a:ext cx="1101533" cy="373663"/>
              </a:xfrm>
              <a:prstGeom prst="roundRect">
                <a:avLst/>
              </a:prstGeom>
              <a:solidFill>
                <a:sysClr val="window" lastClr="FFFFFF">
                  <a:lumMod val="95000"/>
                </a:sysClr>
              </a:solidFill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C</a:t>
                </a:r>
                <a:r>
                  <a: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优化</a:t>
                </a: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3</a:t>
                </a:r>
                <a:endPara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65" name="直接箭头连接符 64"/>
              <p:cNvCxnSpPr>
                <a:stCxn id="62" idx="2"/>
                <a:endCxn id="63" idx="0"/>
              </p:cNvCxnSpPr>
              <p:nvPr/>
            </p:nvCxnSpPr>
            <p:spPr>
              <a:xfrm>
                <a:off x="4166577" y="4288120"/>
                <a:ext cx="0" cy="295445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66" name="直接箭头连接符 65"/>
              <p:cNvCxnSpPr>
                <a:stCxn id="63" idx="2"/>
                <a:endCxn id="64" idx="0"/>
              </p:cNvCxnSpPr>
              <p:nvPr/>
            </p:nvCxnSpPr>
            <p:spPr>
              <a:xfrm>
                <a:off x="4166577" y="4957228"/>
                <a:ext cx="9298" cy="262260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cxnSp>
          <p:nvCxnSpPr>
            <p:cNvPr id="46" name="直接箭头连接符 45"/>
            <p:cNvCxnSpPr>
              <a:stCxn id="41" idx="2"/>
              <a:endCxn id="52" idx="0"/>
            </p:cNvCxnSpPr>
            <p:nvPr/>
          </p:nvCxnSpPr>
          <p:spPr>
            <a:xfrm flipH="1">
              <a:off x="2048137" y="3668481"/>
              <a:ext cx="1311464" cy="358611"/>
            </a:xfrm>
            <a:prstGeom prst="straightConnector1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7" name="直接箭头连接符 46"/>
            <p:cNvCxnSpPr>
              <a:stCxn id="54" idx="2"/>
              <a:endCxn id="42" idx="0"/>
            </p:cNvCxnSpPr>
            <p:nvPr/>
          </p:nvCxnSpPr>
          <p:spPr>
            <a:xfrm>
              <a:off x="2048137" y="5705796"/>
              <a:ext cx="0" cy="336848"/>
            </a:xfrm>
            <a:prstGeom prst="straightConnector1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8" name="直接箭头连接符 47"/>
            <p:cNvCxnSpPr>
              <a:stCxn id="41" idx="2"/>
              <a:endCxn id="57" idx="0"/>
            </p:cNvCxnSpPr>
            <p:nvPr/>
          </p:nvCxnSpPr>
          <p:spPr>
            <a:xfrm flipH="1">
              <a:off x="3355464" y="3668481"/>
              <a:ext cx="4137" cy="373730"/>
            </a:xfrm>
            <a:prstGeom prst="straightConnector1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9" name="直接箭头连接符 48"/>
            <p:cNvCxnSpPr>
              <a:stCxn id="41" idx="2"/>
              <a:endCxn id="62" idx="0"/>
            </p:cNvCxnSpPr>
            <p:nvPr/>
          </p:nvCxnSpPr>
          <p:spPr>
            <a:xfrm>
              <a:off x="3359601" y="3668481"/>
              <a:ext cx="1257458" cy="373730"/>
            </a:xfrm>
            <a:prstGeom prst="straightConnector1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0" name="直接箭头连接符 49"/>
            <p:cNvCxnSpPr>
              <a:stCxn id="59" idx="2"/>
              <a:endCxn id="43" idx="0"/>
            </p:cNvCxnSpPr>
            <p:nvPr/>
          </p:nvCxnSpPr>
          <p:spPr>
            <a:xfrm>
              <a:off x="3348349" y="5720906"/>
              <a:ext cx="3557" cy="321738"/>
            </a:xfrm>
            <a:prstGeom prst="straightConnector1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1" name="直接箭头连接符 50"/>
            <p:cNvCxnSpPr>
              <a:stCxn id="64" idx="2"/>
              <a:endCxn id="44" idx="0"/>
            </p:cNvCxnSpPr>
            <p:nvPr/>
          </p:nvCxnSpPr>
          <p:spPr>
            <a:xfrm>
              <a:off x="4626357" y="5720906"/>
              <a:ext cx="0" cy="319946"/>
            </a:xfrm>
            <a:prstGeom prst="straightConnector1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0" name="文本框 39"/>
            <p:cNvSpPr txBox="1"/>
            <p:nvPr/>
          </p:nvSpPr>
          <p:spPr>
            <a:xfrm>
              <a:off x="5293003" y="4964732"/>
              <a:ext cx="4808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</a:rPr>
                <a:t>难度高</a:t>
              </a: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sp>
          <p:nvSpPr>
            <p:cNvPr id="121" name="右大括号 120"/>
            <p:cNvSpPr/>
            <p:nvPr/>
          </p:nvSpPr>
          <p:spPr>
            <a:xfrm>
              <a:off x="5057939" y="3939390"/>
              <a:ext cx="392436" cy="1968632"/>
            </a:xfrm>
            <a:prstGeom prst="rightBrace">
              <a:avLst>
                <a:gd name="adj1" fmla="val 59732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5563658" y="3059937"/>
            <a:ext cx="5634460" cy="3309457"/>
            <a:chOff x="6530850" y="3590308"/>
            <a:chExt cx="5555883" cy="2865908"/>
          </a:xfrm>
        </p:grpSpPr>
        <p:sp>
          <p:nvSpPr>
            <p:cNvPr id="125" name="矩形 124"/>
            <p:cNvSpPr/>
            <p:nvPr/>
          </p:nvSpPr>
          <p:spPr>
            <a:xfrm>
              <a:off x="6555602" y="3590308"/>
              <a:ext cx="5531131" cy="28659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6530850" y="3636672"/>
              <a:ext cx="5531131" cy="411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</a:rPr>
                <a:t>模块化硬件集成机制</a:t>
              </a:r>
              <a:endPara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grpSp>
          <p:nvGrpSpPr>
            <p:cNvPr id="127" name="组合 126"/>
            <p:cNvGrpSpPr/>
            <p:nvPr/>
          </p:nvGrpSpPr>
          <p:grpSpPr>
            <a:xfrm>
              <a:off x="6674473" y="5904894"/>
              <a:ext cx="5314931" cy="465876"/>
              <a:chOff x="1636355" y="6068158"/>
              <a:chExt cx="9610855" cy="251905"/>
            </a:xfrm>
          </p:grpSpPr>
          <p:sp>
            <p:nvSpPr>
              <p:cNvPr id="150" name="矩形 149"/>
              <p:cNvSpPr/>
              <p:nvPr/>
            </p:nvSpPr>
            <p:spPr>
              <a:xfrm>
                <a:off x="1636355" y="6068274"/>
                <a:ext cx="1788478" cy="251789"/>
              </a:xfrm>
              <a:prstGeom prst="rect">
                <a:avLst/>
              </a:prstGeom>
              <a:solidFill>
                <a:srgbClr val="75BD42">
                  <a:lumMod val="20000"/>
                  <a:lumOff val="8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英伟达</a:t>
                </a: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1" name="矩形 150"/>
              <p:cNvSpPr/>
              <p:nvPr/>
            </p:nvSpPr>
            <p:spPr>
              <a:xfrm>
                <a:off x="3593075" y="6068169"/>
                <a:ext cx="1788478" cy="251789"/>
              </a:xfrm>
              <a:prstGeom prst="rect">
                <a:avLst/>
              </a:prstGeom>
              <a:solidFill>
                <a:srgbClr val="E54C5E">
                  <a:lumMod val="20000"/>
                  <a:lumOff val="8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海光</a:t>
                </a: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2" name="矩形 151"/>
              <p:cNvSpPr/>
              <p:nvPr/>
            </p:nvSpPr>
            <p:spPr>
              <a:xfrm>
                <a:off x="5531097" y="6068167"/>
                <a:ext cx="2025948" cy="251789"/>
              </a:xfrm>
              <a:prstGeom prst="rect">
                <a:avLst/>
              </a:prstGeom>
              <a:solidFill>
                <a:srgbClr val="EE822F">
                  <a:lumMod val="20000"/>
                  <a:lumOff val="8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摩尔线程</a:t>
                </a: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3" name="矩形 152"/>
              <p:cNvSpPr/>
              <p:nvPr/>
            </p:nvSpPr>
            <p:spPr>
              <a:xfrm>
                <a:off x="7752257" y="6068158"/>
                <a:ext cx="1788479" cy="251789"/>
              </a:xfrm>
              <a:prstGeom prst="rect">
                <a:avLst/>
              </a:prstGeom>
              <a:solidFill>
                <a:srgbClr val="4874CB">
                  <a:lumMod val="40000"/>
                  <a:lumOff val="6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沐曦</a:t>
                </a: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4" name="矩形 153"/>
              <p:cNvSpPr/>
              <p:nvPr/>
            </p:nvSpPr>
            <p:spPr>
              <a:xfrm>
                <a:off x="9726567" y="6068171"/>
                <a:ext cx="1520643" cy="251789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3020204020204" pitchFamily="34" charset="-122"/>
                    <a:cs typeface="+mn-cs"/>
                  </a:rPr>
                  <a:t>……</a:t>
                </a: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28" name="矩形 127"/>
            <p:cNvSpPr/>
            <p:nvPr/>
          </p:nvSpPr>
          <p:spPr>
            <a:xfrm>
              <a:off x="6674473" y="4074362"/>
              <a:ext cx="5301719" cy="1608833"/>
            </a:xfrm>
            <a:prstGeom prst="rect">
              <a:avLst/>
            </a:prstGeom>
            <a:solidFill>
              <a:srgbClr val="4874CB">
                <a:lumMod val="20000"/>
                <a:lumOff val="80000"/>
              </a:srgb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29" name="组合 128"/>
            <p:cNvGrpSpPr/>
            <p:nvPr/>
          </p:nvGrpSpPr>
          <p:grpSpPr>
            <a:xfrm>
              <a:off x="7168999" y="5683196"/>
              <a:ext cx="4400587" cy="221723"/>
              <a:chOff x="7168999" y="5411180"/>
              <a:chExt cx="4400587" cy="493713"/>
            </a:xfrm>
          </p:grpSpPr>
          <p:cxnSp>
            <p:nvCxnSpPr>
              <p:cNvPr id="145" name="直接连接符 144"/>
              <p:cNvCxnSpPr>
                <a:stCxn id="150" idx="0"/>
              </p:cNvCxnSpPr>
              <p:nvPr/>
            </p:nvCxnSpPr>
            <p:spPr>
              <a:xfrm flipV="1">
                <a:off x="7168999" y="5411835"/>
                <a:ext cx="0" cy="492892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/>
            </p:spPr>
          </p:cxnSp>
          <p:cxnSp>
            <p:nvCxnSpPr>
              <p:cNvPr id="146" name="直接连接符 145"/>
              <p:cNvCxnSpPr>
                <a:stCxn id="151" idx="0"/>
              </p:cNvCxnSpPr>
              <p:nvPr/>
            </p:nvCxnSpPr>
            <p:spPr>
              <a:xfrm flipH="1" flipV="1">
                <a:off x="8250013" y="5411835"/>
                <a:ext cx="1078" cy="492892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/>
            </p:spPr>
          </p:cxnSp>
          <p:cxnSp>
            <p:nvCxnSpPr>
              <p:cNvPr id="147" name="直接连接符 146"/>
              <p:cNvCxnSpPr>
                <a:stCxn id="152" idx="0"/>
              </p:cNvCxnSpPr>
              <p:nvPr/>
            </p:nvCxnSpPr>
            <p:spPr>
              <a:xfrm flipH="1" flipV="1">
                <a:off x="9384038" y="5411190"/>
                <a:ext cx="4468" cy="493695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/>
            </p:spPr>
          </p:cxnSp>
          <p:cxnSp>
            <p:nvCxnSpPr>
              <p:cNvPr id="148" name="直接连接符 147"/>
              <p:cNvCxnSpPr>
                <a:stCxn id="153" idx="0"/>
              </p:cNvCxnSpPr>
              <p:nvPr/>
            </p:nvCxnSpPr>
            <p:spPr>
              <a:xfrm flipH="1" flipV="1">
                <a:off x="10546707" y="5411836"/>
                <a:ext cx="4468" cy="492891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/>
            </p:spPr>
          </p:cxnSp>
          <p:cxnSp>
            <p:nvCxnSpPr>
              <p:cNvPr id="149" name="直接连接符 148"/>
              <p:cNvCxnSpPr>
                <a:stCxn id="154" idx="0"/>
              </p:cNvCxnSpPr>
              <p:nvPr/>
            </p:nvCxnSpPr>
            <p:spPr>
              <a:xfrm flipV="1">
                <a:off x="11568936" y="5411180"/>
                <a:ext cx="650" cy="493713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/>
            </p:spPr>
          </p:cxnSp>
        </p:grpSp>
        <p:sp>
          <p:nvSpPr>
            <p:cNvPr id="130" name="矩形 129"/>
            <p:cNvSpPr/>
            <p:nvPr/>
          </p:nvSpPr>
          <p:spPr>
            <a:xfrm>
              <a:off x="6777687" y="4440025"/>
              <a:ext cx="2460802" cy="1157807"/>
            </a:xfrm>
            <a:prstGeom prst="rect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6927503" y="4215022"/>
              <a:ext cx="2159939" cy="445268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硬件指令语义抽象</a:t>
              </a: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2" name="矩形 131"/>
            <p:cNvSpPr/>
            <p:nvPr/>
          </p:nvSpPr>
          <p:spPr>
            <a:xfrm>
              <a:off x="6939307" y="4769267"/>
              <a:ext cx="898357" cy="320618"/>
            </a:xfrm>
            <a:prstGeom prst="rect">
              <a:avLst/>
            </a:prstGeom>
            <a:solidFill>
              <a:srgbClr val="4874CB">
                <a:lumMod val="75000"/>
              </a:srgbClr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copy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3" name="矩形 132"/>
            <p:cNvSpPr/>
            <p:nvPr/>
          </p:nvSpPr>
          <p:spPr>
            <a:xfrm>
              <a:off x="6939768" y="5198853"/>
              <a:ext cx="898357" cy="320618"/>
            </a:xfrm>
            <a:prstGeom prst="rect">
              <a:avLst/>
            </a:prstGeom>
            <a:solidFill>
              <a:srgbClr val="4874CB">
                <a:lumMod val="75000"/>
              </a:srgbClr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mma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8020117" y="4778694"/>
              <a:ext cx="898357" cy="320618"/>
            </a:xfrm>
            <a:prstGeom prst="rect">
              <a:avLst/>
            </a:prstGeom>
            <a:solidFill>
              <a:srgbClr val="4874CB">
                <a:lumMod val="75000"/>
              </a:srgbClr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sync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5" name="矩形 134"/>
            <p:cNvSpPr/>
            <p:nvPr/>
          </p:nvSpPr>
          <p:spPr>
            <a:xfrm>
              <a:off x="8020605" y="5202721"/>
              <a:ext cx="898357" cy="320618"/>
            </a:xfrm>
            <a:prstGeom prst="rect">
              <a:avLst/>
            </a:prstGeom>
            <a:solidFill>
              <a:srgbClr val="4874CB">
                <a:lumMod val="75000"/>
              </a:srgbClr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……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6" name="矩形 135"/>
            <p:cNvSpPr/>
            <p:nvPr/>
          </p:nvSpPr>
          <p:spPr>
            <a:xfrm>
              <a:off x="9353095" y="4450128"/>
              <a:ext cx="2552955" cy="1139147"/>
            </a:xfrm>
            <a:prstGeom prst="rect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7" name="矩形 136"/>
            <p:cNvSpPr/>
            <p:nvPr/>
          </p:nvSpPr>
          <p:spPr>
            <a:xfrm>
              <a:off x="9491633" y="5010502"/>
              <a:ext cx="682601" cy="320618"/>
            </a:xfrm>
            <a:prstGeom prst="rect">
              <a:avLst/>
            </a:prstGeom>
            <a:solidFill>
              <a:srgbClr val="4874CB">
                <a:lumMod val="75000"/>
              </a:srgbClr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mma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8" name="矩形 137"/>
            <p:cNvSpPr/>
            <p:nvPr/>
          </p:nvSpPr>
          <p:spPr>
            <a:xfrm>
              <a:off x="10480919" y="4786334"/>
              <a:ext cx="1264879" cy="189517"/>
            </a:xfrm>
            <a:prstGeom prst="rect">
              <a:avLst/>
            </a:prstGeom>
            <a:solidFill>
              <a:srgbClr val="4874CB">
                <a:lumMod val="75000"/>
              </a:srgbClr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16x16x16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9472665" y="4237508"/>
              <a:ext cx="2346250" cy="445268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硬件实现方法注册</a:t>
              </a: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0" name="矩形 139"/>
            <p:cNvSpPr/>
            <p:nvPr/>
          </p:nvSpPr>
          <p:spPr>
            <a:xfrm>
              <a:off x="10480919" y="5070920"/>
              <a:ext cx="1264879" cy="189517"/>
            </a:xfrm>
            <a:prstGeom prst="rect">
              <a:avLst/>
            </a:prstGeom>
            <a:solidFill>
              <a:srgbClr val="4874CB">
                <a:lumMod val="75000"/>
              </a:srgbClr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32x16x8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1" name="矩形 140"/>
            <p:cNvSpPr/>
            <p:nvPr/>
          </p:nvSpPr>
          <p:spPr>
            <a:xfrm>
              <a:off x="10471491" y="5321565"/>
              <a:ext cx="1264879" cy="189517"/>
            </a:xfrm>
            <a:prstGeom prst="rect">
              <a:avLst/>
            </a:prstGeom>
            <a:solidFill>
              <a:srgbClr val="4874CB">
                <a:lumMod val="75000"/>
              </a:srgbClr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8x16x32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42" name="直接连接符 141"/>
            <p:cNvCxnSpPr>
              <a:stCxn id="138" idx="1"/>
              <a:endCxn id="137" idx="3"/>
            </p:cNvCxnSpPr>
            <p:nvPr/>
          </p:nvCxnSpPr>
          <p:spPr>
            <a:xfrm flipH="1">
              <a:off x="10174234" y="4881093"/>
              <a:ext cx="306685" cy="289718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ysDash"/>
              <a:miter lim="800000"/>
              <a:headEnd type="triangle"/>
            </a:ln>
            <a:effectLst/>
          </p:spPr>
        </p:cxnSp>
        <p:cxnSp>
          <p:nvCxnSpPr>
            <p:cNvPr id="143" name="直接连接符 142"/>
            <p:cNvCxnSpPr>
              <a:stCxn id="140" idx="1"/>
              <a:endCxn id="137" idx="3"/>
            </p:cNvCxnSpPr>
            <p:nvPr/>
          </p:nvCxnSpPr>
          <p:spPr>
            <a:xfrm flipH="1">
              <a:off x="10174234" y="5165679"/>
              <a:ext cx="306685" cy="5132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ysDash"/>
              <a:miter lim="800000"/>
              <a:headEnd type="triangle"/>
            </a:ln>
            <a:effectLst/>
          </p:spPr>
        </p:cxnSp>
        <p:cxnSp>
          <p:nvCxnSpPr>
            <p:cNvPr id="144" name="直接连接符 143"/>
            <p:cNvCxnSpPr>
              <a:stCxn id="141" idx="1"/>
              <a:endCxn id="137" idx="3"/>
            </p:cNvCxnSpPr>
            <p:nvPr/>
          </p:nvCxnSpPr>
          <p:spPr>
            <a:xfrm flipH="1" flipV="1">
              <a:off x="10174234" y="5170811"/>
              <a:ext cx="297257" cy="245513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ysDash"/>
              <a:miter lim="800000"/>
              <a:headEnd type="triangle"/>
            </a:ln>
            <a:effectLst/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实验评估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77390" y="1133745"/>
            <a:ext cx="117282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算子覆盖度：目前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覆盖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121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常用算子，表达范围广 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硬件兼容性：对比</a:t>
            </a:r>
            <a:r>
              <a:rPr lang="en-US" altLang="zh-CN" sz="2800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Meta Pytorch 2.0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" panose="02020603050405020304" pitchFamily="18" charset="0"/>
              </a:rPr>
              <a:t>，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种国产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加速卡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上的精度误差均通过</a:t>
            </a:r>
            <a:r>
              <a:rPr lang="en-US" altLang="zh-CN" sz="2800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torch.allclose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测试，硬件兼容能力强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73206" y="2615470"/>
          <a:ext cx="10129322" cy="3200400"/>
        </p:xfrm>
        <a:graphic>
          <a:graphicData uri="http://schemas.openxmlformats.org/drawingml/2006/table">
            <a:tbl>
              <a:tblPr firstRow="1" bandRow="1"/>
              <a:tblGrid>
                <a:gridCol w="2238935"/>
                <a:gridCol w="1432112"/>
                <a:gridCol w="1741394"/>
                <a:gridCol w="4716881"/>
              </a:tblGrid>
              <a:tr h="7580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400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加速卡型号</a:t>
                      </a:r>
                      <a:endParaRPr lang="zh-CN" altLang="en-US" sz="2400" dirty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40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测试模型</a:t>
                      </a:r>
                      <a:endParaRPr lang="zh-CN" altLang="en-US" sz="240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模型参数量</a:t>
                      </a:r>
                      <a:endParaRPr lang="zh-CN" altLang="en-US" sz="240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400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是否通过</a:t>
                      </a:r>
                      <a:r>
                        <a:rPr lang="en-US" altLang="zh-CN" sz="2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黑体" panose="02010609060101010101" pitchFamily="49" charset="-122"/>
                          <a:cs typeface="Times" panose="02020603050405020304" pitchFamily="18" charset="0"/>
                        </a:rPr>
                        <a:t>torch.allclose</a:t>
                      </a:r>
                      <a:r>
                        <a:rPr lang="zh-CN" altLang="en-US" sz="2400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测试</a:t>
                      </a:r>
                      <a:endParaRPr lang="en-US" altLang="zh-CN" sz="2400" dirty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en-US" altLang="zh-CN" sz="2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黑体" panose="02010609060101010101" pitchFamily="49" charset="-122"/>
                          <a:cs typeface="Times" panose="02020603050405020304" pitchFamily="18" charset="0"/>
                        </a:rPr>
                        <a:t>(atol=1e-3, rtol=1e-3)</a:t>
                      </a:r>
                      <a:endParaRPr lang="zh-CN" altLang="en-US" sz="24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黑体" panose="02010609060101010101" pitchFamily="49" charset="-122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lumMod val="75000"/>
                      </a:srgbClr>
                    </a:solidFill>
                  </a:tcPr>
                </a:tc>
              </a:tr>
              <a:tr h="3891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摩尔线程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MTTS4000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Qwen-2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0.5B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通过</a:t>
                      </a:r>
                      <a:endParaRPr lang="zh-CN" altLang="en-US" sz="2000" b="1" dirty="0">
                        <a:solidFill>
                          <a:srgbClr val="00B05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</a:tr>
              <a:tr h="3923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摩尔线程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MTTS4000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Llama-3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1B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kumimoji="0" lang="zh-CN" alt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通过</a:t>
                      </a:r>
                      <a:endParaRPr lang="en-US" altLang="zh-CN" sz="2000" b="1">
                        <a:solidFill>
                          <a:srgbClr val="00B05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</a:tr>
              <a:tr h="3923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摩尔线程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MTTS4000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GPT-Neo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1.3B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kumimoji="0" lang="zh-CN" alt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通过</a:t>
                      </a:r>
                      <a:endParaRPr lang="zh-CN" altLang="en-US" sz="2000" b="1">
                        <a:solidFill>
                          <a:srgbClr val="00B05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</a:tr>
              <a:tr h="3923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沐曦曦云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C500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Qwen-2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0.5B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kumimoji="0" lang="zh-CN" alt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通过</a:t>
                      </a:r>
                      <a:endParaRPr lang="zh-CN" altLang="en-US" sz="2000" b="1">
                        <a:solidFill>
                          <a:srgbClr val="00B05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</a:tr>
              <a:tr h="3923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沐曦曦云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C500</a:t>
                      </a:r>
                      <a:endParaRPr lang="en-US" altLang="zh-CN" sz="20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Llama-3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1B</a:t>
                      </a:r>
                      <a:endParaRPr lang="en-US" altLang="zh-CN" sz="20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kumimoji="0" lang="zh-CN" alt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通过</a:t>
                      </a:r>
                      <a:endParaRPr lang="en-US" altLang="zh-CN" sz="2000" b="1">
                        <a:solidFill>
                          <a:srgbClr val="00B05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</a:tr>
              <a:tr h="3923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沐曦曦云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C500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GPT-Neo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1.3B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kumimoji="0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通过</a:t>
                      </a:r>
                      <a:endParaRPr lang="en-US" altLang="zh-CN" sz="2000" b="1" dirty="0">
                        <a:solidFill>
                          <a:srgbClr val="00B05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</a:tr>
            </a:tbl>
          </a:graphicData>
        </a:graphic>
      </p:graphicFrame>
      <p:sp>
        <p:nvSpPr>
          <p:cNvPr id="10" name="矩形: 圆角 9"/>
          <p:cNvSpPr/>
          <p:nvPr/>
        </p:nvSpPr>
        <p:spPr>
          <a:xfrm>
            <a:off x="773206" y="6002761"/>
            <a:ext cx="10129322" cy="54557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>
                <a:solidFill>
                  <a:srgbClr val="FFFF00"/>
                </a:solidFill>
              </a:rPr>
              <a:t>算子覆盖范围</a:t>
            </a:r>
            <a:r>
              <a:rPr lang="zh-CN" altLang="en-US" sz="2600" b="1" u="sng">
                <a:solidFill>
                  <a:srgbClr val="FFFF00"/>
                </a:solidFill>
              </a:rPr>
              <a:t>广</a:t>
            </a:r>
            <a:r>
              <a:rPr lang="zh-CN" altLang="en-US" sz="2600" b="1">
                <a:solidFill>
                  <a:srgbClr val="FFFF00"/>
                </a:solidFill>
              </a:rPr>
              <a:t>，硬件兼容能力</a:t>
            </a:r>
            <a:r>
              <a:rPr lang="zh-CN" altLang="en-US" sz="2600" b="1" u="sng">
                <a:solidFill>
                  <a:srgbClr val="FFFF00"/>
                </a:solidFill>
              </a:rPr>
              <a:t>强</a:t>
            </a:r>
            <a:endParaRPr lang="zh-CN" altLang="en-US" sz="2600" b="1" u="sng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19"/>
          <p:cNvCxnSpPr/>
          <p:nvPr/>
        </p:nvCxnSpPr>
        <p:spPr bwMode="auto">
          <a:xfrm flipH="1">
            <a:off x="1420196" y="-10652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直接连接符 20"/>
          <p:cNvCxnSpPr/>
          <p:nvPr/>
        </p:nvCxnSpPr>
        <p:spPr bwMode="auto">
          <a:xfrm flipH="1">
            <a:off x="1489481" y="-4866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直接连接符 30"/>
          <p:cNvCxnSpPr/>
          <p:nvPr/>
        </p:nvCxnSpPr>
        <p:spPr bwMode="auto">
          <a:xfrm>
            <a:off x="1554569" y="-4866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1722566" y="128127"/>
            <a:ext cx="711805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汇报提纲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1489481" y="2109376"/>
            <a:ext cx="3739114" cy="2632710"/>
            <a:chOff x="3364547" y="2293620"/>
            <a:chExt cx="3739114" cy="2632710"/>
          </a:xfrm>
        </p:grpSpPr>
        <p:sp>
          <p:nvSpPr>
            <p:cNvPr id="20" name="Rectangle 6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368675" y="2293620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本课题总概述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368675" y="2982595"/>
              <a:ext cx="3734986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 smtClean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研究工作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进展</a:t>
              </a:r>
              <a:endParaRPr lang="en-US" altLang="zh-CN" sz="2800" b="1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endPara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368040" y="4347845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未来</a:t>
              </a:r>
              <a:r>
                <a:rPr lang="zh-CN" altLang="en-US" sz="2800" b="1" dirty="0" smtClean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工作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计划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endPara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64547" y="3657600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指标完成情况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Line 10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3581401" y="2865120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Line 10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581400" y="3557270"/>
              <a:ext cx="3045118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3581401" y="4925695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" name="Line 10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577908" y="4235450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911752" y="1838900"/>
            <a:ext cx="4737688" cy="3514575"/>
            <a:chOff x="1397086" y="1912525"/>
            <a:chExt cx="4737688" cy="3514575"/>
          </a:xfrm>
        </p:grpSpPr>
        <p:sp>
          <p:nvSpPr>
            <p:cNvPr id="29" name="矩形 28"/>
            <p:cNvSpPr/>
            <p:nvPr/>
          </p:nvSpPr>
          <p:spPr>
            <a:xfrm>
              <a:off x="1397086" y="1935712"/>
              <a:ext cx="4737688" cy="3491388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544730" y="2386000"/>
              <a:ext cx="4442400" cy="2900200"/>
              <a:chOff x="1094488" y="2898900"/>
              <a:chExt cx="4442400" cy="2900200"/>
            </a:xfrm>
            <a:noFill/>
          </p:grpSpPr>
          <p:sp>
            <p:nvSpPr>
              <p:cNvPr id="32" name="矩形 31"/>
              <p:cNvSpPr/>
              <p:nvPr/>
            </p:nvSpPr>
            <p:spPr>
              <a:xfrm>
                <a:off x="1094488" y="2898900"/>
                <a:ext cx="4442400" cy="70560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面向多样化算力的高性能易适配</a:t>
                </a:r>
                <a:endParaRPr lang="en-US" altLang="zh-CN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算子编程框架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094488" y="37904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访存感知的算子融合机制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1094488" y="53298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存算任务重叠的运行时资源调度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094488" y="4441700"/>
                <a:ext cx="2181512" cy="705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张量程序与架构的自动映射器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3441600" y="4445650"/>
                <a:ext cx="2095288" cy="705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国产架构的混精训练技术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1" name="矩形 30"/>
            <p:cNvSpPr/>
            <p:nvPr/>
          </p:nvSpPr>
          <p:spPr>
            <a:xfrm>
              <a:off x="1397086" y="1912525"/>
              <a:ext cx="4737688" cy="469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本课题编译软件</a:t>
              </a:r>
              <a:endParaRPr lang="zh-CN" altLang="en-US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问题和难点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54167" y="1735439"/>
            <a:ext cx="9646280" cy="1667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加速卡的</a:t>
            </a:r>
            <a:r>
              <a:rPr lang="en-US" altLang="zh-CN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HBM</a:t>
            </a: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容量和带宽都难以匹配其计算性能</a:t>
            </a:r>
            <a:endParaRPr lang="en-US" altLang="zh-CN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大模型训练需在</a:t>
            </a:r>
            <a:r>
              <a:rPr lang="en-US" altLang="zh-CN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HBM</a:t>
            </a: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重复存取中间结果</a:t>
            </a:r>
            <a:endParaRPr lang="en-US" altLang="zh-CN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例：注意力计算时中间结果的访存量与序列长度呈二次方关系</a:t>
            </a:r>
            <a:endParaRPr lang="zh-CN" altLang="en-US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77390" y="1133745"/>
            <a:ext cx="9812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大模型训练的访存开销成为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AI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加速卡的性能瓶颈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812" y="3798937"/>
            <a:ext cx="5366554" cy="244833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463" y="3766589"/>
            <a:ext cx="3774985" cy="25897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分析与设计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654167" y="1735439"/>
            <a:ext cx="9646280" cy="1667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融合</a:t>
            </a:r>
            <a:r>
              <a:rPr lang="en-US" altLang="zh-CN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Matmul</a:t>
            </a: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、</a:t>
            </a:r>
            <a:r>
              <a:rPr lang="en-US" altLang="zh-CN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" panose="02020603050405020304" pitchFamily="18" charset="0"/>
                <a:sym typeface="+mn-ea"/>
              </a:rPr>
              <a:t>Softmax</a:t>
            </a: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等算子为单个算子 </a:t>
            </a:r>
            <a:endParaRPr lang="en-US" altLang="zh-CN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量化算子间数据传输，选择最佳循环顺序 </a:t>
            </a:r>
            <a:endParaRPr lang="en-US" altLang="zh-CN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转换访存开销为计算开销，重新计算算子</a:t>
            </a:r>
            <a:endParaRPr lang="zh-CN" altLang="en-US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7390" y="1133745"/>
            <a:ext cx="9812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在片上内存直接存取中间结果，减少对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HBM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的访问次数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167" y="3434292"/>
            <a:ext cx="6083745" cy="31046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986" y="1821867"/>
            <a:ext cx="4619211" cy="42815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基于分块分析的融合方法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177390" y="1133745"/>
            <a:ext cx="11827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现有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工作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缺乏感知硬件架构信息导致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访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存开销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4167" y="1735439"/>
            <a:ext cx="639451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解决思路</a:t>
            </a:r>
            <a:r>
              <a:rPr lang="zh-CN" altLang="en-US" sz="2400" b="1" kern="1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面向硬件架构的解析式模型</a:t>
            </a:r>
            <a:endParaRPr lang="en-US" altLang="zh-CN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en-US" altLang="zh-CN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(2)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构建算子融合设计空间并设计搜索算法</a:t>
            </a:r>
            <a:endParaRPr lang="en-US" altLang="zh-CN" sz="2400" b="1" kern="100" dirty="0" smtClean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en-US" altLang="zh-CN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(3)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分析张量内存时间占用并动态融合算子</a:t>
            </a:r>
            <a:endParaRPr lang="zh-CN" altLang="en-US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56" y="3919774"/>
            <a:ext cx="5371042" cy="2030144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048686" y="2299814"/>
            <a:ext cx="4594786" cy="3362643"/>
            <a:chOff x="7291214" y="3299127"/>
            <a:chExt cx="4594786" cy="3362643"/>
          </a:xfrm>
        </p:grpSpPr>
        <p:sp>
          <p:nvSpPr>
            <p:cNvPr id="15" name="矩形 14"/>
            <p:cNvSpPr/>
            <p:nvPr/>
          </p:nvSpPr>
          <p:spPr bwMode="auto">
            <a:xfrm>
              <a:off x="7292157" y="4469435"/>
              <a:ext cx="1318443" cy="753065"/>
            </a:xfrm>
            <a:prstGeom prst="rect">
              <a:avLst/>
            </a:prstGeom>
            <a:solidFill>
              <a:srgbClr val="DEE6F8"/>
            </a:solidFill>
            <a:ln w="285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10800" rIns="0" bIns="10800" rtlCol="0" anchor="ctr"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zh-CN" altLang="en-US" sz="2000" b="1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体系结构</a:t>
              </a:r>
              <a:endParaRPr kumimoji="0" lang="en-US" altLang="zh-CN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zh-CN" altLang="en-US" sz="2000" b="1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建模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7291214" y="3299127"/>
              <a:ext cx="4594785" cy="98295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85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8055" rIns="0" bIns="8055" rtlCol="0" anchor="ctr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4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7807394" y="3890947"/>
              <a:ext cx="324000" cy="324000"/>
            </a:xfrm>
            <a:prstGeom prst="rect">
              <a:avLst/>
            </a:prstGeom>
            <a:solidFill>
              <a:srgbClr val="0070C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0276" tIns="0" rIns="40276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45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 panose="0204060205030503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箭头连接符 12"/>
            <p:cNvCxnSpPr>
              <a:stCxn id="17" idx="3"/>
              <a:endCxn id="23" idx="1"/>
            </p:cNvCxnSpPr>
            <p:nvPr/>
          </p:nvCxnSpPr>
          <p:spPr>
            <a:xfrm>
              <a:off x="8131394" y="4052947"/>
              <a:ext cx="34247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2"/>
            <p:cNvCxnSpPr>
              <a:endCxn id="17" idx="1"/>
            </p:cNvCxnSpPr>
            <p:nvPr/>
          </p:nvCxnSpPr>
          <p:spPr>
            <a:xfrm>
              <a:off x="7376229" y="4050967"/>
              <a:ext cx="431165" cy="19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8932943" y="3352467"/>
              <a:ext cx="1475083" cy="2718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41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大模型负载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" name="PA-A000320150529F75PPSH-3619"/>
            <p:cNvSpPr/>
            <p:nvPr>
              <p:custDataLst>
                <p:tags r:id="rId2"/>
              </p:custDataLst>
            </p:nvPr>
          </p:nvSpPr>
          <p:spPr bwMode="auto">
            <a:xfrm rot="16200000" flipH="1">
              <a:off x="7864030" y="4216604"/>
              <a:ext cx="174695" cy="346075"/>
            </a:xfrm>
            <a:custGeom>
              <a:avLst/>
              <a:gdLst>
                <a:gd name="T0" fmla="*/ 353367474 w 5320"/>
                <a:gd name="T1" fmla="*/ 352892023 h 3072"/>
                <a:gd name="T2" fmla="*/ 353367474 w 5320"/>
                <a:gd name="T3" fmla="*/ 352892023 h 3072"/>
                <a:gd name="T4" fmla="*/ 353367474 w 5320"/>
                <a:gd name="T5" fmla="*/ 352892023 h 3072"/>
                <a:gd name="T6" fmla="*/ 353367474 w 5320"/>
                <a:gd name="T7" fmla="*/ 352892023 h 3072"/>
                <a:gd name="T8" fmla="*/ 353367474 w 5320"/>
                <a:gd name="T9" fmla="*/ 352892023 h 3072"/>
                <a:gd name="T10" fmla="*/ 353367474 w 5320"/>
                <a:gd name="T11" fmla="*/ 352892023 h 3072"/>
                <a:gd name="T12" fmla="*/ 353367474 w 5320"/>
                <a:gd name="T13" fmla="*/ 352892023 h 3072"/>
                <a:gd name="T14" fmla="*/ 353367474 w 5320"/>
                <a:gd name="T15" fmla="*/ 352892023 h 3072"/>
                <a:gd name="T16" fmla="*/ 353367474 w 5320"/>
                <a:gd name="T17" fmla="*/ 352892023 h 3072"/>
                <a:gd name="T18" fmla="*/ 353367474 w 5320"/>
                <a:gd name="T19" fmla="*/ 352892023 h 3072"/>
                <a:gd name="T20" fmla="*/ 353367474 w 5320"/>
                <a:gd name="T21" fmla="*/ 352892023 h 3072"/>
                <a:gd name="T22" fmla="*/ 353367474 w 5320"/>
                <a:gd name="T23" fmla="*/ 352892023 h 30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320" h="3072">
                  <a:moveTo>
                    <a:pt x="5320" y="1536"/>
                  </a:moveTo>
                  <a:lnTo>
                    <a:pt x="3989" y="768"/>
                  </a:lnTo>
                  <a:lnTo>
                    <a:pt x="2660" y="0"/>
                  </a:lnTo>
                  <a:lnTo>
                    <a:pt x="2660" y="768"/>
                  </a:lnTo>
                  <a:lnTo>
                    <a:pt x="0" y="768"/>
                  </a:lnTo>
                  <a:lnTo>
                    <a:pt x="1329" y="1536"/>
                  </a:lnTo>
                  <a:lnTo>
                    <a:pt x="0" y="2305"/>
                  </a:lnTo>
                  <a:lnTo>
                    <a:pt x="2660" y="2305"/>
                  </a:lnTo>
                  <a:lnTo>
                    <a:pt x="2660" y="3072"/>
                  </a:lnTo>
                  <a:lnTo>
                    <a:pt x="3989" y="2305"/>
                  </a:lnTo>
                  <a:lnTo>
                    <a:pt x="5320" y="153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="ctr">
              <a:no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2" name="直接箭头连接符 12"/>
            <p:cNvCxnSpPr>
              <a:stCxn id="28" idx="3"/>
            </p:cNvCxnSpPr>
            <p:nvPr/>
          </p:nvCxnSpPr>
          <p:spPr>
            <a:xfrm>
              <a:off x="11408600" y="4059231"/>
              <a:ext cx="42088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8473870" y="3894701"/>
              <a:ext cx="324000" cy="324000"/>
            </a:xfrm>
            <a:prstGeom prst="rect">
              <a:avLst/>
            </a:prstGeom>
            <a:solidFill>
              <a:srgbClr val="0070C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0276" tIns="0" rIns="40276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45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 panose="0204060205030503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9144698" y="3893828"/>
              <a:ext cx="324000" cy="324000"/>
            </a:xfrm>
            <a:prstGeom prst="rect">
              <a:avLst/>
            </a:prstGeom>
            <a:solidFill>
              <a:srgbClr val="0070C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0276" tIns="0" rIns="40276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45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 panose="0204060205030503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箭头连接符 12"/>
            <p:cNvCxnSpPr>
              <a:stCxn id="23" idx="3"/>
              <a:endCxn id="24" idx="1"/>
            </p:cNvCxnSpPr>
            <p:nvPr/>
          </p:nvCxnSpPr>
          <p:spPr>
            <a:xfrm flipV="1">
              <a:off x="8797870" y="4055828"/>
              <a:ext cx="346828" cy="8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/>
            <p:cNvSpPr/>
            <p:nvPr/>
          </p:nvSpPr>
          <p:spPr>
            <a:xfrm>
              <a:off x="9791332" y="3897231"/>
              <a:ext cx="324000" cy="324000"/>
            </a:xfrm>
            <a:prstGeom prst="rect">
              <a:avLst/>
            </a:prstGeom>
            <a:solidFill>
              <a:srgbClr val="0070C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0276" tIns="0" rIns="40276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45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 panose="0204060205030503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437966" y="3898321"/>
              <a:ext cx="324000" cy="324000"/>
            </a:xfrm>
            <a:prstGeom prst="rect">
              <a:avLst/>
            </a:prstGeom>
            <a:solidFill>
              <a:srgbClr val="0070C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0276" tIns="0" rIns="40276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45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 panose="0204060205030503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1084600" y="3897231"/>
              <a:ext cx="324000" cy="324000"/>
            </a:xfrm>
            <a:prstGeom prst="rect">
              <a:avLst/>
            </a:prstGeom>
            <a:solidFill>
              <a:srgbClr val="0070C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0276" tIns="0" rIns="40276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45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 panose="0204060205030503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接箭头连接符 12"/>
            <p:cNvCxnSpPr>
              <a:stCxn id="26" idx="3"/>
              <a:endCxn id="27" idx="1"/>
            </p:cNvCxnSpPr>
            <p:nvPr/>
          </p:nvCxnSpPr>
          <p:spPr>
            <a:xfrm>
              <a:off x="10115332" y="4059231"/>
              <a:ext cx="322634" cy="10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12"/>
            <p:cNvCxnSpPr/>
            <p:nvPr/>
          </p:nvCxnSpPr>
          <p:spPr>
            <a:xfrm flipV="1">
              <a:off x="10756492" y="4059231"/>
              <a:ext cx="346828" cy="8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9365056" y="3915069"/>
              <a:ext cx="5976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…</a:t>
              </a:r>
              <a:endParaRPr lang="zh-CN" altLang="en-US" dirty="0"/>
            </a:p>
          </p:txBody>
        </p:sp>
        <p:cxnSp>
          <p:nvCxnSpPr>
            <p:cNvPr id="32" name="连接符: 肘形 96"/>
            <p:cNvCxnSpPr>
              <a:stCxn id="26" idx="0"/>
              <a:endCxn id="28" idx="0"/>
            </p:cNvCxnSpPr>
            <p:nvPr/>
          </p:nvCxnSpPr>
          <p:spPr>
            <a:xfrm rot="5400000" flipH="1" flipV="1">
              <a:off x="10599966" y="3250597"/>
              <a:ext cx="12700" cy="1293268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符: 肘形 97"/>
            <p:cNvCxnSpPr>
              <a:endCxn id="31" idx="0"/>
            </p:cNvCxnSpPr>
            <p:nvPr/>
          </p:nvCxnSpPr>
          <p:spPr>
            <a:xfrm flipV="1">
              <a:off x="7521044" y="3915069"/>
              <a:ext cx="2142830" cy="137878"/>
            </a:xfrm>
            <a:prstGeom prst="bentConnector4">
              <a:avLst>
                <a:gd name="adj1" fmla="val 2488"/>
                <a:gd name="adj2" fmla="val 265799"/>
              </a:avLst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PA-A000320150529F75PPSH-3619"/>
            <p:cNvSpPr/>
            <p:nvPr>
              <p:custDataLst>
                <p:tags r:id="rId3"/>
              </p:custDataLst>
            </p:nvPr>
          </p:nvSpPr>
          <p:spPr bwMode="auto">
            <a:xfrm rot="16200000" flipH="1">
              <a:off x="9583134" y="4771116"/>
              <a:ext cx="174695" cy="346075"/>
            </a:xfrm>
            <a:custGeom>
              <a:avLst/>
              <a:gdLst>
                <a:gd name="T0" fmla="*/ 353367474 w 5320"/>
                <a:gd name="T1" fmla="*/ 352892023 h 3072"/>
                <a:gd name="T2" fmla="*/ 353367474 w 5320"/>
                <a:gd name="T3" fmla="*/ 352892023 h 3072"/>
                <a:gd name="T4" fmla="*/ 353367474 w 5320"/>
                <a:gd name="T5" fmla="*/ 352892023 h 3072"/>
                <a:gd name="T6" fmla="*/ 353367474 w 5320"/>
                <a:gd name="T7" fmla="*/ 352892023 h 3072"/>
                <a:gd name="T8" fmla="*/ 353367474 w 5320"/>
                <a:gd name="T9" fmla="*/ 352892023 h 3072"/>
                <a:gd name="T10" fmla="*/ 353367474 w 5320"/>
                <a:gd name="T11" fmla="*/ 352892023 h 3072"/>
                <a:gd name="T12" fmla="*/ 353367474 w 5320"/>
                <a:gd name="T13" fmla="*/ 352892023 h 3072"/>
                <a:gd name="T14" fmla="*/ 353367474 w 5320"/>
                <a:gd name="T15" fmla="*/ 352892023 h 3072"/>
                <a:gd name="T16" fmla="*/ 353367474 w 5320"/>
                <a:gd name="T17" fmla="*/ 352892023 h 3072"/>
                <a:gd name="T18" fmla="*/ 353367474 w 5320"/>
                <a:gd name="T19" fmla="*/ 352892023 h 3072"/>
                <a:gd name="T20" fmla="*/ 353367474 w 5320"/>
                <a:gd name="T21" fmla="*/ 352892023 h 3072"/>
                <a:gd name="T22" fmla="*/ 353367474 w 5320"/>
                <a:gd name="T23" fmla="*/ 352892023 h 30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320" h="3072">
                  <a:moveTo>
                    <a:pt x="5320" y="1536"/>
                  </a:moveTo>
                  <a:lnTo>
                    <a:pt x="3989" y="768"/>
                  </a:lnTo>
                  <a:lnTo>
                    <a:pt x="2660" y="0"/>
                  </a:lnTo>
                  <a:lnTo>
                    <a:pt x="2660" y="768"/>
                  </a:lnTo>
                  <a:lnTo>
                    <a:pt x="0" y="768"/>
                  </a:lnTo>
                  <a:lnTo>
                    <a:pt x="1329" y="1536"/>
                  </a:lnTo>
                  <a:lnTo>
                    <a:pt x="0" y="2305"/>
                  </a:lnTo>
                  <a:lnTo>
                    <a:pt x="2660" y="2305"/>
                  </a:lnTo>
                  <a:lnTo>
                    <a:pt x="2660" y="3072"/>
                  </a:lnTo>
                  <a:lnTo>
                    <a:pt x="3989" y="2305"/>
                  </a:lnTo>
                  <a:lnTo>
                    <a:pt x="5320" y="153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="ctr">
              <a:no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PA-A000320150529F75PPSH-3619"/>
            <p:cNvSpPr/>
            <p:nvPr>
              <p:custDataLst>
                <p:tags r:id="rId4"/>
              </p:custDataLst>
            </p:nvPr>
          </p:nvSpPr>
          <p:spPr bwMode="auto">
            <a:xfrm rot="16200000" flipH="1">
              <a:off x="11139852" y="5190785"/>
              <a:ext cx="174695" cy="346075"/>
            </a:xfrm>
            <a:custGeom>
              <a:avLst/>
              <a:gdLst>
                <a:gd name="T0" fmla="*/ 353367474 w 5320"/>
                <a:gd name="T1" fmla="*/ 352892023 h 3072"/>
                <a:gd name="T2" fmla="*/ 353367474 w 5320"/>
                <a:gd name="T3" fmla="*/ 352892023 h 3072"/>
                <a:gd name="T4" fmla="*/ 353367474 w 5320"/>
                <a:gd name="T5" fmla="*/ 352892023 h 3072"/>
                <a:gd name="T6" fmla="*/ 353367474 w 5320"/>
                <a:gd name="T7" fmla="*/ 352892023 h 3072"/>
                <a:gd name="T8" fmla="*/ 353367474 w 5320"/>
                <a:gd name="T9" fmla="*/ 352892023 h 3072"/>
                <a:gd name="T10" fmla="*/ 353367474 w 5320"/>
                <a:gd name="T11" fmla="*/ 352892023 h 3072"/>
                <a:gd name="T12" fmla="*/ 353367474 w 5320"/>
                <a:gd name="T13" fmla="*/ 352892023 h 3072"/>
                <a:gd name="T14" fmla="*/ 353367474 w 5320"/>
                <a:gd name="T15" fmla="*/ 352892023 h 3072"/>
                <a:gd name="T16" fmla="*/ 353367474 w 5320"/>
                <a:gd name="T17" fmla="*/ 352892023 h 3072"/>
                <a:gd name="T18" fmla="*/ 353367474 w 5320"/>
                <a:gd name="T19" fmla="*/ 352892023 h 3072"/>
                <a:gd name="T20" fmla="*/ 353367474 w 5320"/>
                <a:gd name="T21" fmla="*/ 352892023 h 3072"/>
                <a:gd name="T22" fmla="*/ 353367474 w 5320"/>
                <a:gd name="T23" fmla="*/ 352892023 h 30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320" h="3072">
                  <a:moveTo>
                    <a:pt x="5320" y="1536"/>
                  </a:moveTo>
                  <a:lnTo>
                    <a:pt x="3989" y="768"/>
                  </a:lnTo>
                  <a:lnTo>
                    <a:pt x="2660" y="0"/>
                  </a:lnTo>
                  <a:lnTo>
                    <a:pt x="2660" y="768"/>
                  </a:lnTo>
                  <a:lnTo>
                    <a:pt x="0" y="768"/>
                  </a:lnTo>
                  <a:lnTo>
                    <a:pt x="1329" y="1536"/>
                  </a:lnTo>
                  <a:lnTo>
                    <a:pt x="0" y="2305"/>
                  </a:lnTo>
                  <a:lnTo>
                    <a:pt x="2660" y="2305"/>
                  </a:lnTo>
                  <a:lnTo>
                    <a:pt x="2660" y="3072"/>
                  </a:lnTo>
                  <a:lnTo>
                    <a:pt x="3989" y="2305"/>
                  </a:lnTo>
                  <a:lnTo>
                    <a:pt x="5320" y="153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="ctr">
              <a:no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8930700" y="4464900"/>
              <a:ext cx="1317600" cy="781359"/>
            </a:xfrm>
            <a:prstGeom prst="rect">
              <a:avLst/>
            </a:prstGeom>
            <a:solidFill>
              <a:srgbClr val="DEE6F8"/>
            </a:solidFill>
            <a:ln w="285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10800" rIns="0" bIns="10800" rtlCol="0" anchor="ctr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融合设计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空间构建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7" name="矩形 36"/>
            <p:cNvSpPr/>
            <p:nvPr/>
          </p:nvSpPr>
          <p:spPr bwMode="auto">
            <a:xfrm>
              <a:off x="10568400" y="4469436"/>
              <a:ext cx="1317600" cy="776824"/>
            </a:xfrm>
            <a:prstGeom prst="rect">
              <a:avLst/>
            </a:prstGeom>
            <a:solidFill>
              <a:srgbClr val="DEE6F8"/>
            </a:solidFill>
            <a:ln w="285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10800" rIns="0" bIns="10800" rtlCol="0" anchor="ctr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内存占用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监测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7291214" y="5459439"/>
              <a:ext cx="4594785" cy="120233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85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8055" rIns="0" bIns="8055" rtlCol="0" anchor="ctr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4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7807394" y="6102060"/>
              <a:ext cx="324000" cy="324000"/>
            </a:xfrm>
            <a:prstGeom prst="rect">
              <a:avLst/>
            </a:prstGeom>
            <a:solidFill>
              <a:srgbClr val="0070C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0276" tIns="0" rIns="40276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45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 panose="0204060205030503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接箭头连接符 12"/>
            <p:cNvCxnSpPr>
              <a:stCxn id="39" idx="3"/>
              <a:endCxn id="45" idx="1"/>
            </p:cNvCxnSpPr>
            <p:nvPr/>
          </p:nvCxnSpPr>
          <p:spPr>
            <a:xfrm>
              <a:off x="8131394" y="6264060"/>
              <a:ext cx="34247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12"/>
            <p:cNvCxnSpPr>
              <a:endCxn id="39" idx="1"/>
            </p:cNvCxnSpPr>
            <p:nvPr/>
          </p:nvCxnSpPr>
          <p:spPr>
            <a:xfrm>
              <a:off x="7376229" y="6262080"/>
              <a:ext cx="431165" cy="19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>
            <a:xfrm>
              <a:off x="9061984" y="5512780"/>
              <a:ext cx="1217000" cy="2718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41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计算子图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44" name="直接箭头连接符 12"/>
            <p:cNvCxnSpPr>
              <a:stCxn id="50" idx="3"/>
            </p:cNvCxnSpPr>
            <p:nvPr/>
          </p:nvCxnSpPr>
          <p:spPr>
            <a:xfrm>
              <a:off x="11408600" y="6270344"/>
              <a:ext cx="42088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44"/>
            <p:cNvSpPr/>
            <p:nvPr/>
          </p:nvSpPr>
          <p:spPr>
            <a:xfrm>
              <a:off x="8473870" y="6105814"/>
              <a:ext cx="324000" cy="324000"/>
            </a:xfrm>
            <a:prstGeom prst="rect">
              <a:avLst/>
            </a:prstGeom>
            <a:solidFill>
              <a:srgbClr val="0070C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0276" tIns="0" rIns="40276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45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 panose="0204060205030503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9144698" y="6104941"/>
              <a:ext cx="324000" cy="324000"/>
            </a:xfrm>
            <a:prstGeom prst="rect">
              <a:avLst/>
            </a:prstGeom>
            <a:solidFill>
              <a:srgbClr val="0070C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0276" tIns="0" rIns="40276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45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 panose="0204060205030503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7" name="直接箭头连接符 12"/>
            <p:cNvCxnSpPr>
              <a:stCxn id="45" idx="3"/>
              <a:endCxn id="46" idx="1"/>
            </p:cNvCxnSpPr>
            <p:nvPr/>
          </p:nvCxnSpPr>
          <p:spPr>
            <a:xfrm flipV="1">
              <a:off x="8797870" y="6266941"/>
              <a:ext cx="346828" cy="8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矩形 47"/>
            <p:cNvSpPr/>
            <p:nvPr/>
          </p:nvSpPr>
          <p:spPr>
            <a:xfrm>
              <a:off x="9791332" y="6108344"/>
              <a:ext cx="324000" cy="324000"/>
            </a:xfrm>
            <a:prstGeom prst="rect">
              <a:avLst/>
            </a:prstGeom>
            <a:solidFill>
              <a:srgbClr val="0070C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0276" tIns="0" rIns="40276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45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 panose="0204060205030503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0437966" y="6109434"/>
              <a:ext cx="324000" cy="324000"/>
            </a:xfrm>
            <a:prstGeom prst="rect">
              <a:avLst/>
            </a:prstGeom>
            <a:solidFill>
              <a:srgbClr val="0070C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0276" tIns="0" rIns="40276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45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 panose="0204060205030503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1084600" y="6108344"/>
              <a:ext cx="324000" cy="324000"/>
            </a:xfrm>
            <a:prstGeom prst="rect">
              <a:avLst/>
            </a:prstGeom>
            <a:solidFill>
              <a:srgbClr val="0070C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0276" tIns="0" rIns="40276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45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 panose="0204060205030503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接箭头连接符 12"/>
            <p:cNvCxnSpPr>
              <a:stCxn id="48" idx="3"/>
              <a:endCxn id="49" idx="1"/>
            </p:cNvCxnSpPr>
            <p:nvPr/>
          </p:nvCxnSpPr>
          <p:spPr>
            <a:xfrm>
              <a:off x="10115332" y="6270344"/>
              <a:ext cx="322634" cy="10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12"/>
            <p:cNvCxnSpPr/>
            <p:nvPr/>
          </p:nvCxnSpPr>
          <p:spPr>
            <a:xfrm flipV="1">
              <a:off x="10756492" y="6270344"/>
              <a:ext cx="346828" cy="8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/>
            <p:cNvSpPr txBox="1"/>
            <p:nvPr/>
          </p:nvSpPr>
          <p:spPr>
            <a:xfrm>
              <a:off x="9365056" y="6126182"/>
              <a:ext cx="5976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…</a:t>
              </a:r>
              <a:endParaRPr lang="zh-CN" altLang="en-US" dirty="0"/>
            </a:p>
          </p:txBody>
        </p:sp>
        <p:cxnSp>
          <p:nvCxnSpPr>
            <p:cNvPr id="54" name="连接符: 肘形 134"/>
            <p:cNvCxnSpPr>
              <a:stCxn id="48" idx="0"/>
              <a:endCxn id="50" idx="0"/>
            </p:cNvCxnSpPr>
            <p:nvPr/>
          </p:nvCxnSpPr>
          <p:spPr>
            <a:xfrm rot="5400000" flipH="1" flipV="1">
              <a:off x="10599966" y="5461710"/>
              <a:ext cx="12700" cy="1293268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连接符: 肘形 135"/>
            <p:cNvCxnSpPr>
              <a:endCxn id="53" idx="0"/>
            </p:cNvCxnSpPr>
            <p:nvPr/>
          </p:nvCxnSpPr>
          <p:spPr>
            <a:xfrm flipV="1">
              <a:off x="7521044" y="6126182"/>
              <a:ext cx="2142830" cy="137878"/>
            </a:xfrm>
            <a:prstGeom prst="bentConnector4">
              <a:avLst>
                <a:gd name="adj1" fmla="val 2488"/>
                <a:gd name="adj2" fmla="val 265799"/>
              </a:avLst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/>
            <p:cNvSpPr/>
            <p:nvPr/>
          </p:nvSpPr>
          <p:spPr>
            <a:xfrm>
              <a:off x="7462310" y="5821906"/>
              <a:ext cx="2118471" cy="747281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9737747" y="5820484"/>
              <a:ext cx="1848250" cy="747281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PA-A000320150529F75PPSH-3619"/>
            <p:cNvSpPr/>
            <p:nvPr>
              <p:custDataLst>
                <p:tags r:id="rId5"/>
              </p:custDataLst>
            </p:nvPr>
          </p:nvSpPr>
          <p:spPr bwMode="auto">
            <a:xfrm rot="10800000" flipH="1">
              <a:off x="8674477" y="4699400"/>
              <a:ext cx="222825" cy="346075"/>
            </a:xfrm>
            <a:custGeom>
              <a:avLst/>
              <a:gdLst>
                <a:gd name="T0" fmla="*/ 353367474 w 5320"/>
                <a:gd name="T1" fmla="*/ 352892023 h 3072"/>
                <a:gd name="T2" fmla="*/ 353367474 w 5320"/>
                <a:gd name="T3" fmla="*/ 352892023 h 3072"/>
                <a:gd name="T4" fmla="*/ 353367474 w 5320"/>
                <a:gd name="T5" fmla="*/ 352892023 h 3072"/>
                <a:gd name="T6" fmla="*/ 353367474 w 5320"/>
                <a:gd name="T7" fmla="*/ 352892023 h 3072"/>
                <a:gd name="T8" fmla="*/ 353367474 w 5320"/>
                <a:gd name="T9" fmla="*/ 352892023 h 3072"/>
                <a:gd name="T10" fmla="*/ 353367474 w 5320"/>
                <a:gd name="T11" fmla="*/ 352892023 h 3072"/>
                <a:gd name="T12" fmla="*/ 353367474 w 5320"/>
                <a:gd name="T13" fmla="*/ 352892023 h 3072"/>
                <a:gd name="T14" fmla="*/ 353367474 w 5320"/>
                <a:gd name="T15" fmla="*/ 352892023 h 3072"/>
                <a:gd name="T16" fmla="*/ 353367474 w 5320"/>
                <a:gd name="T17" fmla="*/ 352892023 h 3072"/>
                <a:gd name="T18" fmla="*/ 353367474 w 5320"/>
                <a:gd name="T19" fmla="*/ 352892023 h 3072"/>
                <a:gd name="T20" fmla="*/ 353367474 w 5320"/>
                <a:gd name="T21" fmla="*/ 352892023 h 3072"/>
                <a:gd name="T22" fmla="*/ 353367474 w 5320"/>
                <a:gd name="T23" fmla="*/ 352892023 h 30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320" h="3072">
                  <a:moveTo>
                    <a:pt x="5320" y="1536"/>
                  </a:moveTo>
                  <a:lnTo>
                    <a:pt x="3989" y="768"/>
                  </a:lnTo>
                  <a:lnTo>
                    <a:pt x="2660" y="0"/>
                  </a:lnTo>
                  <a:lnTo>
                    <a:pt x="2660" y="768"/>
                  </a:lnTo>
                  <a:lnTo>
                    <a:pt x="0" y="768"/>
                  </a:lnTo>
                  <a:lnTo>
                    <a:pt x="1329" y="1536"/>
                  </a:lnTo>
                  <a:lnTo>
                    <a:pt x="0" y="2305"/>
                  </a:lnTo>
                  <a:lnTo>
                    <a:pt x="2660" y="2305"/>
                  </a:lnTo>
                  <a:lnTo>
                    <a:pt x="2660" y="3072"/>
                  </a:lnTo>
                  <a:lnTo>
                    <a:pt x="3989" y="2305"/>
                  </a:lnTo>
                  <a:lnTo>
                    <a:pt x="5320" y="153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="ctr">
              <a:no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PA-A000320150529F75PPSH-3619"/>
            <p:cNvSpPr/>
            <p:nvPr>
              <p:custDataLst>
                <p:tags r:id="rId6"/>
              </p:custDataLst>
            </p:nvPr>
          </p:nvSpPr>
          <p:spPr bwMode="auto">
            <a:xfrm rot="10800000" flipH="1">
              <a:off x="10311853" y="4702079"/>
              <a:ext cx="222825" cy="346075"/>
            </a:xfrm>
            <a:custGeom>
              <a:avLst/>
              <a:gdLst>
                <a:gd name="T0" fmla="*/ 353367474 w 5320"/>
                <a:gd name="T1" fmla="*/ 352892023 h 3072"/>
                <a:gd name="T2" fmla="*/ 353367474 w 5320"/>
                <a:gd name="T3" fmla="*/ 352892023 h 3072"/>
                <a:gd name="T4" fmla="*/ 353367474 w 5320"/>
                <a:gd name="T5" fmla="*/ 352892023 h 3072"/>
                <a:gd name="T6" fmla="*/ 353367474 w 5320"/>
                <a:gd name="T7" fmla="*/ 352892023 h 3072"/>
                <a:gd name="T8" fmla="*/ 353367474 w 5320"/>
                <a:gd name="T9" fmla="*/ 352892023 h 3072"/>
                <a:gd name="T10" fmla="*/ 353367474 w 5320"/>
                <a:gd name="T11" fmla="*/ 352892023 h 3072"/>
                <a:gd name="T12" fmla="*/ 353367474 w 5320"/>
                <a:gd name="T13" fmla="*/ 352892023 h 3072"/>
                <a:gd name="T14" fmla="*/ 353367474 w 5320"/>
                <a:gd name="T15" fmla="*/ 352892023 h 3072"/>
                <a:gd name="T16" fmla="*/ 353367474 w 5320"/>
                <a:gd name="T17" fmla="*/ 352892023 h 3072"/>
                <a:gd name="T18" fmla="*/ 353367474 w 5320"/>
                <a:gd name="T19" fmla="*/ 352892023 h 3072"/>
                <a:gd name="T20" fmla="*/ 353367474 w 5320"/>
                <a:gd name="T21" fmla="*/ 352892023 h 3072"/>
                <a:gd name="T22" fmla="*/ 353367474 w 5320"/>
                <a:gd name="T23" fmla="*/ 352892023 h 30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320" h="3072">
                  <a:moveTo>
                    <a:pt x="5320" y="1536"/>
                  </a:moveTo>
                  <a:lnTo>
                    <a:pt x="3989" y="768"/>
                  </a:lnTo>
                  <a:lnTo>
                    <a:pt x="2660" y="0"/>
                  </a:lnTo>
                  <a:lnTo>
                    <a:pt x="2660" y="768"/>
                  </a:lnTo>
                  <a:lnTo>
                    <a:pt x="0" y="768"/>
                  </a:lnTo>
                  <a:lnTo>
                    <a:pt x="1329" y="1536"/>
                  </a:lnTo>
                  <a:lnTo>
                    <a:pt x="0" y="2305"/>
                  </a:lnTo>
                  <a:lnTo>
                    <a:pt x="2660" y="2305"/>
                  </a:lnTo>
                  <a:lnTo>
                    <a:pt x="2660" y="3072"/>
                  </a:lnTo>
                  <a:lnTo>
                    <a:pt x="3989" y="2305"/>
                  </a:lnTo>
                  <a:lnTo>
                    <a:pt x="5320" y="153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="ctr">
              <a:no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基于数据依赖的重排序方法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77390" y="1133745"/>
            <a:ext cx="11827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现有工作缺乏支持重排序的数据移动模型导致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访片上数据局部性低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4167" y="1735439"/>
            <a:ext cx="7166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解决思路</a:t>
            </a:r>
            <a:r>
              <a:rPr lang="zh-CN" altLang="en-US" sz="2400" b="1" kern="1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面向数据依赖的优先队列模型</a:t>
            </a:r>
            <a:endParaRPr lang="en-US" altLang="zh-CN" sz="2400" b="1" kern="100" dirty="0" smtClean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en-US" altLang="zh-CN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(2)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分析融合算子的每层循环与数据移动关系</a:t>
            </a:r>
            <a:endParaRPr lang="en-US" altLang="zh-CN" sz="2400" b="1" kern="100" dirty="0" smtClean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en-US" altLang="zh-CN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(3)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对数据依赖无关的算子循环执行重排序</a:t>
            </a:r>
            <a:endParaRPr lang="zh-CN" altLang="en-US" sz="2400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424" y="4031609"/>
            <a:ext cx="4980864" cy="186553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490" y="2294399"/>
            <a:ext cx="4392175" cy="33226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0795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基于计算强度的重计算方法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77390" y="1133745"/>
            <a:ext cx="11827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现有工作难以平衡内存占用与计算延迟导致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硬件性能降低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4167" y="1735439"/>
            <a:ext cx="644266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解决思路</a:t>
            </a:r>
            <a:r>
              <a:rPr lang="zh-CN" altLang="en-US" sz="2400" b="1" kern="1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编译时：基于计算图的参数化模型，内置优化规则，预定义重计算策略</a:t>
            </a:r>
            <a:endParaRPr lang="en-US" altLang="zh-CN" sz="2400" b="1" kern="100" dirty="0" smtClean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en-US" altLang="zh-CN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(2)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运行时：实例化工作负载参数，匹配优化规则，在线决定是否重计算</a:t>
            </a:r>
            <a:endParaRPr lang="en-US" altLang="zh-CN" sz="2400" b="1" kern="100" dirty="0" smtClean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385" y="4043763"/>
            <a:ext cx="5017443" cy="21093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006" y="2379109"/>
            <a:ext cx="4360083" cy="357256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实验评估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77390" y="1133745"/>
            <a:ext cx="11827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相比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Pytorch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我们的方法：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4167" y="1735439"/>
            <a:ext cx="639451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目前</a:t>
            </a:r>
            <a:r>
              <a:rPr lang="zh-CN" altLang="en-US" sz="2400" b="1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在英伟达</a:t>
            </a:r>
            <a:r>
              <a:rPr lang="en-US" altLang="zh-CN" sz="2400" b="1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A100</a:t>
            </a:r>
            <a:r>
              <a:rPr lang="zh-CN" altLang="en-US" sz="2400" b="1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加速卡上</a:t>
            </a:r>
            <a:endParaRPr lang="en-US" altLang="zh-CN" sz="2400" b="1" kern="10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融合算子性能提升</a:t>
            </a:r>
            <a:r>
              <a:rPr lang="en-US" altLang="zh-CN" sz="2400" b="1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1.42-2.35</a:t>
            </a:r>
            <a:r>
              <a:rPr lang="zh-CN" altLang="en-US" sz="2400" b="1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倍</a:t>
            </a:r>
            <a:endParaRPr lang="en-US" altLang="zh-CN" sz="2400" b="1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Tx/>
              <a:buChar char="−"/>
            </a:pPr>
            <a:r>
              <a:rPr lang="zh-CN" altLang="en-US" sz="2400" b="1" kern="1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十亿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级模型性能提升</a:t>
            </a:r>
            <a:r>
              <a:rPr lang="en-US" altLang="zh-CN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1.26-2.21</a:t>
            </a:r>
            <a:r>
              <a:rPr lang="zh-CN" altLang="en-US" sz="2400" b="1" kern="1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倍</a:t>
            </a:r>
            <a:endParaRPr lang="en-US" altLang="zh-CN" sz="2400" b="1" kern="100" dirty="0" smtClean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1288" y="1133745"/>
            <a:ext cx="5681964" cy="285821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96" y="3991958"/>
            <a:ext cx="10944608" cy="2481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19"/>
          <p:cNvCxnSpPr/>
          <p:nvPr/>
        </p:nvCxnSpPr>
        <p:spPr bwMode="auto">
          <a:xfrm flipH="1">
            <a:off x="1420196" y="-10652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直接连接符 20"/>
          <p:cNvCxnSpPr/>
          <p:nvPr/>
        </p:nvCxnSpPr>
        <p:spPr bwMode="auto">
          <a:xfrm flipH="1">
            <a:off x="1489481" y="-4866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直接连接符 30"/>
          <p:cNvCxnSpPr/>
          <p:nvPr/>
        </p:nvCxnSpPr>
        <p:spPr bwMode="auto">
          <a:xfrm>
            <a:off x="1554569" y="-4866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1722566" y="128127"/>
            <a:ext cx="711805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汇报提纲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1489481" y="2109376"/>
            <a:ext cx="3739114" cy="2632710"/>
            <a:chOff x="3364547" y="2293620"/>
            <a:chExt cx="3739114" cy="2632710"/>
          </a:xfrm>
        </p:grpSpPr>
        <p:sp>
          <p:nvSpPr>
            <p:cNvPr id="20" name="Rectangle 6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368675" y="2293620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本课题总概述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368675" y="2982595"/>
              <a:ext cx="3734986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 smtClean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研究工作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进展</a:t>
              </a:r>
              <a:endParaRPr lang="en-US" altLang="zh-CN" sz="2800" b="1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endPara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368040" y="4347845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未来</a:t>
              </a:r>
              <a:r>
                <a:rPr lang="zh-CN" altLang="en-US" sz="2800" b="1" dirty="0" smtClean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工作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计划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endPara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64547" y="3657600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指标完成情况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Line 10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3581401" y="2865120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Line 10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581400" y="3557270"/>
              <a:ext cx="3045118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3581401" y="4925695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" name="Line 10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577908" y="4235450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911752" y="1838900"/>
            <a:ext cx="4737688" cy="3514575"/>
            <a:chOff x="1397086" y="1912525"/>
            <a:chExt cx="4737688" cy="3514575"/>
          </a:xfrm>
        </p:grpSpPr>
        <p:sp>
          <p:nvSpPr>
            <p:cNvPr id="29" name="矩形 28"/>
            <p:cNvSpPr/>
            <p:nvPr/>
          </p:nvSpPr>
          <p:spPr>
            <a:xfrm>
              <a:off x="1397086" y="1935712"/>
              <a:ext cx="4737688" cy="3491388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544730" y="2386000"/>
              <a:ext cx="4442400" cy="2900200"/>
              <a:chOff x="1094488" y="2898900"/>
              <a:chExt cx="4442400" cy="2900200"/>
            </a:xfrm>
            <a:noFill/>
          </p:grpSpPr>
          <p:sp>
            <p:nvSpPr>
              <p:cNvPr id="32" name="矩形 31"/>
              <p:cNvSpPr/>
              <p:nvPr/>
            </p:nvSpPr>
            <p:spPr>
              <a:xfrm>
                <a:off x="1094488" y="2898900"/>
                <a:ext cx="4442400" cy="70560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面向多样化算力的高性能易适配</a:t>
                </a:r>
                <a:endParaRPr lang="en-US" altLang="zh-CN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算子编程框架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094488" y="37904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访存感知的算子融合机制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1094488" y="53298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存算任务重叠的运行时资源调度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094488" y="4441700"/>
                <a:ext cx="2181512" cy="705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张量程序与架构的自动映射器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3441600" y="4445650"/>
                <a:ext cx="2095288" cy="705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国产架构的混精训练技术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1" name="矩形 30"/>
            <p:cNvSpPr/>
            <p:nvPr/>
          </p:nvSpPr>
          <p:spPr>
            <a:xfrm>
              <a:off x="1397086" y="1912525"/>
              <a:ext cx="4737688" cy="469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本课题编译软件</a:t>
              </a:r>
              <a:endParaRPr lang="zh-CN" altLang="en-US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问题和难点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10DEEA-47B7-4406-B06C-3775E9DD7A8C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77390" y="1133745"/>
            <a:ext cx="11702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时次优的资源调度导致大模型训练时负载不</a:t>
            </a:r>
            <a:r>
              <a:rPr lang="zh-CN" altLang="en-US" sz="2800" b="1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均，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资源利用率低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31331" y="2529722"/>
            <a:ext cx="17652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kern="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流式多处理器</a:t>
            </a:r>
            <a:r>
              <a:rPr lang="en-US" altLang="zh-CN" sz="2000" b="1" kern="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SM</a:t>
            </a:r>
            <a:r>
              <a:rPr lang="zh-CN" altLang="en-US" sz="2000" b="1" kern="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级</a:t>
            </a:r>
            <a:endParaRPr lang="zh-CN" altLang="en-US" sz="2000" b="1" kern="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189233" y="2793416"/>
            <a:ext cx="987172" cy="425937"/>
          </a:xfrm>
          <a:prstGeom prst="rect">
            <a:avLst/>
          </a:prstGeom>
          <a:solidFill>
            <a:srgbClr val="5982DB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algn="ctr" eaLnBrk="0" fontAlgn="base" hangingPunct="0">
              <a:defRPr/>
            </a:pPr>
            <a:r>
              <a:rPr lang="en-US" altLang="zh-CN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SM0</a:t>
            </a:r>
            <a:endParaRPr lang="en-US" altLang="zh-CN" b="1" kern="0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28288" y="2806370"/>
            <a:ext cx="987172" cy="425937"/>
          </a:xfrm>
          <a:prstGeom prst="rect">
            <a:avLst/>
          </a:prstGeom>
          <a:solidFill>
            <a:srgbClr val="5982DB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algn="ctr" eaLnBrk="0" fontAlgn="base" hangingPunct="0">
              <a:defRPr/>
            </a:pPr>
            <a:r>
              <a:rPr lang="en-US" altLang="zh-CN" b="1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SM1</a:t>
            </a:r>
            <a:endParaRPr lang="en-US" altLang="zh-CN" b="1" kern="0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189993" y="3890759"/>
            <a:ext cx="987172" cy="425937"/>
          </a:xfrm>
          <a:prstGeom prst="rect">
            <a:avLst/>
          </a:prstGeom>
          <a:solidFill>
            <a:srgbClr val="EE822F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CTA0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407216" y="3890759"/>
            <a:ext cx="987172" cy="425937"/>
          </a:xfrm>
          <a:prstGeom prst="rect">
            <a:avLst/>
          </a:prstGeom>
          <a:solidFill>
            <a:srgbClr val="EE822F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CTA1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89233" y="4854149"/>
            <a:ext cx="987172" cy="425937"/>
          </a:xfrm>
          <a:prstGeom prst="rect">
            <a:avLst/>
          </a:prstGeom>
          <a:solidFill>
            <a:srgbClr val="5982DB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algn="ctr" eaLnBrk="0" fontAlgn="base" hangingPunct="0">
              <a:defRPr/>
            </a:pPr>
            <a:r>
              <a:rPr lang="en-US" altLang="zh-CN" b="1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Warp0</a:t>
            </a:r>
            <a:endParaRPr lang="en-US" altLang="zh-CN" b="1" kern="0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667343" y="2819323"/>
            <a:ext cx="987172" cy="425937"/>
          </a:xfrm>
          <a:prstGeom prst="rect">
            <a:avLst/>
          </a:prstGeom>
          <a:solidFill>
            <a:srgbClr val="5982DB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algn="ctr" eaLnBrk="0" fontAlgn="base" hangingPunct="0">
              <a:defRPr/>
            </a:pPr>
            <a:r>
              <a:rPr lang="en-US" altLang="zh-CN" b="1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SM2</a:t>
            </a:r>
            <a:endParaRPr lang="en-US" altLang="zh-CN" b="1" kern="0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906399" y="2832277"/>
            <a:ext cx="987172" cy="425937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SM3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429199" y="4864352"/>
            <a:ext cx="987172" cy="425937"/>
          </a:xfrm>
          <a:prstGeom prst="rect">
            <a:avLst/>
          </a:prstGeom>
          <a:solidFill>
            <a:srgbClr val="4874CB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Warp1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669166" y="4859251"/>
            <a:ext cx="987172" cy="425937"/>
          </a:xfrm>
          <a:prstGeom prst="rect">
            <a:avLst/>
          </a:prstGeom>
          <a:solidFill>
            <a:srgbClr val="4874CB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Warp2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909131" y="4869454"/>
            <a:ext cx="987172" cy="425937"/>
          </a:xfrm>
          <a:prstGeom prst="rect">
            <a:avLst/>
          </a:prstGeom>
          <a:solidFill>
            <a:srgbClr val="4874CB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Warp3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文本框 57"/>
          <p:cNvSpPr txBox="1"/>
          <p:nvPr>
            <p:custDataLst>
              <p:tags r:id="rId1"/>
            </p:custDataLst>
          </p:nvPr>
        </p:nvSpPr>
        <p:spPr>
          <a:xfrm>
            <a:off x="7930581" y="2832277"/>
            <a:ext cx="586882" cy="425938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…</a:t>
            </a:r>
            <a:endParaRPr lang="zh-CN" altLang="en-US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670518" y="3906058"/>
            <a:ext cx="987172" cy="425937"/>
          </a:xfrm>
          <a:prstGeom prst="rect">
            <a:avLst/>
          </a:prstGeom>
          <a:solidFill>
            <a:srgbClr val="75BD42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CTA0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909131" y="3906059"/>
            <a:ext cx="987172" cy="425937"/>
          </a:xfrm>
          <a:prstGeom prst="rect">
            <a:avLst/>
          </a:prstGeom>
          <a:solidFill>
            <a:srgbClr val="75BD42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CTA1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144650" y="3569789"/>
            <a:ext cx="17488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kern="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协助线程数组</a:t>
            </a:r>
            <a:endParaRPr lang="en-US" altLang="zh-CN" sz="2000" b="1" kern="0" dirty="0" smtClean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kern="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CTA</a:t>
            </a:r>
            <a:r>
              <a:rPr lang="zh-CN" altLang="en-US" sz="2000" b="1" kern="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级</a:t>
            </a:r>
            <a:endParaRPr lang="zh-CN" altLang="en-US" sz="2000" b="1" kern="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466148" y="4704401"/>
            <a:ext cx="10862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kern="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线程束</a:t>
            </a:r>
            <a:endParaRPr lang="en-US" altLang="zh-CN" sz="2000" b="1" kern="0" dirty="0" smtClean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kern="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Warp</a:t>
            </a:r>
            <a:r>
              <a:rPr lang="zh-CN" altLang="en-US" sz="2000" b="1" kern="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级</a:t>
            </a:r>
            <a:endParaRPr lang="zh-CN" altLang="en-US" sz="2000" b="1" kern="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6" name="连接符: 肘形 57"/>
          <p:cNvCxnSpPr>
            <a:stCxn id="13" idx="2"/>
            <a:endCxn id="15" idx="0"/>
          </p:cNvCxnSpPr>
          <p:nvPr/>
        </p:nvCxnSpPr>
        <p:spPr>
          <a:xfrm rot="5400000">
            <a:off x="3414473" y="4585042"/>
            <a:ext cx="537453" cy="760"/>
          </a:xfrm>
          <a:prstGeom prst="bentConnector3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7" name="连接符: 肘形 58"/>
          <p:cNvCxnSpPr>
            <a:stCxn id="13" idx="2"/>
            <a:endCxn id="20" idx="0"/>
          </p:cNvCxnSpPr>
          <p:nvPr/>
        </p:nvCxnSpPr>
        <p:spPr>
          <a:xfrm rot="16200000" flipH="1">
            <a:off x="5266769" y="2733506"/>
            <a:ext cx="552758" cy="3719138"/>
          </a:xfrm>
          <a:prstGeom prst="bentConnector3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8" name="连接符: 肘形 61"/>
          <p:cNvCxnSpPr>
            <a:stCxn id="13" idx="2"/>
            <a:endCxn id="19" idx="0"/>
          </p:cNvCxnSpPr>
          <p:nvPr/>
        </p:nvCxnSpPr>
        <p:spPr>
          <a:xfrm rot="16200000" flipH="1">
            <a:off x="4651888" y="3348386"/>
            <a:ext cx="542555" cy="247917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9" name="连接符: 肘形 64"/>
          <p:cNvCxnSpPr>
            <a:stCxn id="13" idx="2"/>
            <a:endCxn id="18" idx="0"/>
          </p:cNvCxnSpPr>
          <p:nvPr/>
        </p:nvCxnSpPr>
        <p:spPr>
          <a:xfrm rot="16200000" flipH="1">
            <a:off x="4029354" y="3970921"/>
            <a:ext cx="547656" cy="123920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30" name="矩形 29"/>
          <p:cNvSpPr/>
          <p:nvPr/>
        </p:nvSpPr>
        <p:spPr>
          <a:xfrm>
            <a:off x="2893467" y="4723305"/>
            <a:ext cx="5822123" cy="68898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57"/>
          <p:cNvSpPr txBox="1"/>
          <p:nvPr>
            <p:custDataLst>
              <p:tags r:id="rId2"/>
            </p:custDataLst>
          </p:nvPr>
        </p:nvSpPr>
        <p:spPr>
          <a:xfrm>
            <a:off x="7851790" y="4806520"/>
            <a:ext cx="908313" cy="531397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线程资源</a:t>
            </a:r>
            <a:endParaRPr lang="en-US" altLang="zh-CN" sz="1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Times New Roman" panose="02020603050405020304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利用率低</a:t>
            </a:r>
            <a:endParaRPr lang="zh-CN" altLang="en-US" sz="1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2" name="文本框 57"/>
          <p:cNvSpPr txBox="1"/>
          <p:nvPr>
            <p:custDataLst>
              <p:tags r:id="rId3"/>
            </p:custDataLst>
          </p:nvPr>
        </p:nvSpPr>
        <p:spPr>
          <a:xfrm>
            <a:off x="2946738" y="3556285"/>
            <a:ext cx="1875111" cy="505239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计算</a:t>
            </a:r>
            <a:r>
              <a:rPr lang="zh-CN" altLang="en-US" sz="1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资源利用率</a:t>
            </a:r>
            <a:r>
              <a:rPr lang="zh-CN" altLang="en-US" sz="1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低</a:t>
            </a:r>
            <a:endParaRPr lang="zh-CN" altLang="en-US" sz="1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cxnSp>
        <p:nvCxnSpPr>
          <p:cNvPr id="33" name="连接符: 肘形 71"/>
          <p:cNvCxnSpPr>
            <a:stCxn id="16" idx="2"/>
            <a:endCxn id="23" idx="0"/>
          </p:cNvCxnSpPr>
          <p:nvPr/>
        </p:nvCxnSpPr>
        <p:spPr>
          <a:xfrm rot="16200000" flipH="1">
            <a:off x="6451424" y="2954764"/>
            <a:ext cx="660799" cy="124178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4" name="连接符: 肘形 75"/>
          <p:cNvCxnSpPr>
            <a:stCxn id="16" idx="2"/>
            <a:endCxn id="22" idx="0"/>
          </p:cNvCxnSpPr>
          <p:nvPr/>
        </p:nvCxnSpPr>
        <p:spPr>
          <a:xfrm rot="16200000" flipH="1">
            <a:off x="5832117" y="3574071"/>
            <a:ext cx="660798" cy="317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35" name="矩形 34"/>
          <p:cNvSpPr/>
          <p:nvPr/>
        </p:nvSpPr>
        <p:spPr>
          <a:xfrm>
            <a:off x="2893467" y="3444852"/>
            <a:ext cx="2666174" cy="108919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文本框 57"/>
          <p:cNvSpPr txBox="1"/>
          <p:nvPr>
            <p:custDataLst>
              <p:tags r:id="rId4"/>
            </p:custDataLst>
          </p:nvPr>
        </p:nvSpPr>
        <p:spPr>
          <a:xfrm>
            <a:off x="6284797" y="2468779"/>
            <a:ext cx="2121511" cy="3760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SM</a:t>
            </a:r>
            <a:r>
              <a:rPr lang="zh-CN" altLang="en-US" sz="1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资源利用率低</a:t>
            </a:r>
            <a:endParaRPr lang="zh-CN" altLang="en-US" sz="1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893467" y="2465980"/>
            <a:ext cx="5822123" cy="85898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625199" y="3438455"/>
            <a:ext cx="3090391" cy="108919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9" name="连接符: 肘形 90"/>
          <p:cNvCxnSpPr>
            <a:stCxn id="11" idx="2"/>
            <a:endCxn id="13" idx="0"/>
          </p:cNvCxnSpPr>
          <p:nvPr/>
        </p:nvCxnSpPr>
        <p:spPr>
          <a:xfrm rot="16200000" flipH="1">
            <a:off x="3347496" y="3554676"/>
            <a:ext cx="671406" cy="76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0" name="连接符: 肘形 93"/>
          <p:cNvCxnSpPr>
            <a:stCxn id="11" idx="2"/>
            <a:endCxn id="14" idx="0"/>
          </p:cNvCxnSpPr>
          <p:nvPr/>
        </p:nvCxnSpPr>
        <p:spPr>
          <a:xfrm rot="16200000" flipH="1">
            <a:off x="3956106" y="2946064"/>
            <a:ext cx="671406" cy="121798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1" name="文本框 57"/>
          <p:cNvSpPr txBox="1"/>
          <p:nvPr>
            <p:custDataLst>
              <p:tags r:id="rId5"/>
            </p:custDataLst>
          </p:nvPr>
        </p:nvSpPr>
        <p:spPr>
          <a:xfrm>
            <a:off x="7982333" y="3441999"/>
            <a:ext cx="573520" cy="1092475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访</a:t>
            </a:r>
            <a:r>
              <a:rPr lang="zh-CN" altLang="en-US" sz="1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存</a:t>
            </a:r>
            <a:endParaRPr lang="en-US" altLang="zh-CN" sz="16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Times New Roman" panose="02020603050405020304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资源</a:t>
            </a:r>
            <a:endParaRPr lang="en-US" altLang="zh-CN" sz="1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Times New Roman" panose="02020603050405020304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利用</a:t>
            </a:r>
            <a:endParaRPr lang="en-US" altLang="zh-CN" sz="16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Times New Roman" panose="02020603050405020304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率</a:t>
            </a:r>
            <a:r>
              <a:rPr lang="zh-CN" altLang="en-US" sz="1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低</a:t>
            </a:r>
            <a:endParaRPr lang="zh-CN" altLang="en-US" sz="1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136265" y="3573517"/>
            <a:ext cx="1076869" cy="360000"/>
          </a:xfrm>
          <a:prstGeom prst="rect">
            <a:avLst/>
          </a:prstGeom>
          <a:solidFill>
            <a:srgbClr val="EE822F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访存密集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9136265" y="4051713"/>
            <a:ext cx="1076869" cy="360000"/>
          </a:xfrm>
          <a:prstGeom prst="rect">
            <a:avLst/>
          </a:prstGeom>
          <a:solidFill>
            <a:srgbClr val="75BD42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计算密集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136264" y="2617123"/>
            <a:ext cx="1076869" cy="360000"/>
          </a:xfrm>
          <a:prstGeom prst="rect">
            <a:avLst/>
          </a:prstGeom>
          <a:solidFill>
            <a:srgbClr val="5982DB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algn="ctr" eaLnBrk="0" fontAlgn="base" hangingPunct="0">
              <a:defRPr/>
            </a:pPr>
            <a:r>
              <a:rPr lang="zh-CN" altLang="en-US" sz="16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资源占用</a:t>
            </a:r>
            <a:endParaRPr lang="en-US" altLang="zh-CN" sz="1600" b="1" kern="0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136263" y="3095320"/>
            <a:ext cx="1076869" cy="360000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资源空闲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136264" y="4538933"/>
            <a:ext cx="272851" cy="360000"/>
          </a:xfrm>
          <a:prstGeom prst="rect">
            <a:avLst/>
          </a:prstGeom>
          <a:solidFill>
            <a:srgbClr val="5982DB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algn="ctr" eaLnBrk="0" fontAlgn="base" hangingPunct="0">
              <a:defRPr/>
            </a:pPr>
            <a:endParaRPr lang="en-US" altLang="zh-CN" sz="1600" b="1" kern="0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9409114" y="4538933"/>
            <a:ext cx="272851" cy="360000"/>
          </a:xfrm>
          <a:prstGeom prst="rect">
            <a:avLst/>
          </a:prstGeom>
          <a:solidFill>
            <a:srgbClr val="4874CB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9667432" y="4538933"/>
            <a:ext cx="272851" cy="360000"/>
          </a:xfrm>
          <a:prstGeom prst="rect">
            <a:avLst/>
          </a:prstGeom>
          <a:solidFill>
            <a:srgbClr val="4874CB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940282" y="4538933"/>
            <a:ext cx="272851" cy="360000"/>
          </a:xfrm>
          <a:prstGeom prst="rect">
            <a:avLst/>
          </a:prstGeom>
          <a:solidFill>
            <a:srgbClr val="4874CB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0" rIns="54000" bIns="0" rtlCol="0" anchor="ctr" anchorCtr="0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0" name="文本框 57"/>
          <p:cNvSpPr txBox="1"/>
          <p:nvPr>
            <p:custDataLst>
              <p:tags r:id="rId6"/>
            </p:custDataLst>
          </p:nvPr>
        </p:nvSpPr>
        <p:spPr>
          <a:xfrm>
            <a:off x="9006097" y="4573400"/>
            <a:ext cx="1337200" cy="317829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Times New Roman" panose="02020603050405020304"/>
              </a:rPr>
              <a:t>存算任务时延</a:t>
            </a:r>
            <a:endParaRPr lang="zh-CN" altLang="en-US" sz="14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存算任务重叠的运行时资源调度方法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10DEEA-47B7-4406-B06C-3775E9DD7A8C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77390" y="1133745"/>
            <a:ext cx="11702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运行时资源分级调度，提升大模型训练的资源利用率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805" y="2291661"/>
            <a:ext cx="10358156" cy="34299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SM</a:t>
            </a:r>
            <a:r>
              <a:rPr lang="zh-CN" altLang="en-US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级运行时资源调度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10DEEA-47B7-4406-B06C-3775E9DD7A8C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1" name="TextBox 19"/>
          <p:cNvSpPr txBox="1">
            <a:spLocks noChangeArrowheads="1"/>
          </p:cNvSpPr>
          <p:nvPr/>
        </p:nvSpPr>
        <p:spPr bwMode="auto">
          <a:xfrm>
            <a:off x="791433" y="964740"/>
            <a:ext cx="10599709" cy="2235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观察</a:t>
            </a:r>
            <a:r>
              <a:rPr lang="en-US" altLang="zh-CN" sz="2400" b="1" dirty="0" smtClean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1</a:t>
            </a:r>
            <a:r>
              <a:rPr lang="zh-CN" altLang="en-US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：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现有方法中每个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SM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孤立地获取存算任务，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忽略了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SM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之间的协同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，导致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SM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间负载不均严重，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SM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资源利用率低。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  <a:p>
            <a:pPr algn="just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方法</a:t>
            </a:r>
            <a:r>
              <a:rPr lang="en-US" altLang="zh-CN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1</a:t>
            </a:r>
            <a:r>
              <a:rPr lang="zh-CN" altLang="en-US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：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构建代价模型估计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SM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运行时延；分析全局任务分块信息，确定分块调度优先级；协调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SM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执行信息，将任务分块调度到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SM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  <a:p>
            <a:pPr algn="just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582" y="3505849"/>
            <a:ext cx="4526421" cy="303306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175" y="3505849"/>
            <a:ext cx="3730898" cy="2990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CTA</a:t>
            </a:r>
            <a:r>
              <a:rPr lang="zh-CN" altLang="en-US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级运行时资源调度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10DEEA-47B7-4406-B06C-3775E9DD7A8C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TextBox 19"/>
          <p:cNvSpPr txBox="1">
            <a:spLocks noChangeArrowheads="1"/>
          </p:cNvSpPr>
          <p:nvPr/>
        </p:nvSpPr>
        <p:spPr bwMode="auto">
          <a:xfrm>
            <a:off x="791433" y="964740"/>
            <a:ext cx="10599709" cy="2235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just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观察</a:t>
            </a:r>
            <a:r>
              <a:rPr lang="en-US" altLang="zh-CN" sz="2400" b="1" dirty="0" smtClean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2</a:t>
            </a:r>
            <a:r>
              <a:rPr lang="zh-CN" altLang="en-US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现有方法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采用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粗粒度信息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辅助任务分配，导致存算资源负载不均，存算资源利用率低。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  <a:p>
            <a:pPr algn="just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方法</a:t>
            </a:r>
            <a:r>
              <a:rPr lang="en-US" altLang="zh-CN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2</a:t>
            </a:r>
            <a:r>
              <a:rPr lang="zh-CN" altLang="en-US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构建代价模型估计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CTA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运行时延；分析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SM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级调度方案中的存算重叠机会，确定存算任务的调度优先级；将任务分块调度到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CTA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433" y="3484551"/>
            <a:ext cx="5755123" cy="305436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074" y="3461331"/>
            <a:ext cx="3726127" cy="3100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Warp</a:t>
            </a:r>
            <a:r>
              <a:rPr lang="zh-CN" altLang="en-US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级运行时资源调度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10DEEA-47B7-4406-B06C-3775E9DD7A8C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TextBox 19"/>
          <p:cNvSpPr txBox="1">
            <a:spLocks noChangeArrowheads="1"/>
          </p:cNvSpPr>
          <p:nvPr/>
        </p:nvSpPr>
        <p:spPr bwMode="auto">
          <a:xfrm>
            <a:off x="791433" y="964740"/>
            <a:ext cx="10599709" cy="2235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just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观察</a:t>
            </a:r>
            <a:r>
              <a:rPr lang="en-US" altLang="zh-CN" sz="2400" b="1" dirty="0" smtClean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3</a:t>
            </a:r>
            <a:r>
              <a:rPr lang="zh-CN" altLang="en-US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现有方法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采用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静态的任务并行方式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，无法根据工作负载信息调整，导致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Warp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间负载不均，线程资源利用率低。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  <a:p>
            <a:pPr algn="just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方法</a:t>
            </a:r>
            <a:r>
              <a:rPr lang="en-US" altLang="zh-CN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3</a:t>
            </a:r>
            <a:r>
              <a:rPr lang="zh-CN" altLang="en-US" sz="2400" b="1" dirty="0">
                <a:solidFill>
                  <a:srgbClr val="2E0BC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构建代价模型估计分块运行时延；分析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CTA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级调度方案中的分块执行模式；根据分块模式与开销将任务分块调度到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Warp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709" y="3512135"/>
            <a:ext cx="4177742" cy="297272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296" y="3424192"/>
            <a:ext cx="3677904" cy="30606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实验评估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10DEEA-47B7-4406-B06C-3775E9DD7A8C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TextBox 19"/>
          <p:cNvSpPr txBox="1">
            <a:spLocks noChangeArrowheads="1"/>
          </p:cNvSpPr>
          <p:nvPr/>
        </p:nvSpPr>
        <p:spPr bwMode="auto">
          <a:xfrm>
            <a:off x="791433" y="964740"/>
            <a:ext cx="10599709" cy="122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just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目前在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英伟达</a:t>
            </a:r>
            <a:r>
              <a:rPr lang="en-US" altLang="zh-CN" sz="2400" dirty="0" err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A100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加速卡上，与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Pytorch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的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Attention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算子相比，</a:t>
            </a:r>
            <a:r>
              <a:rPr lang="zh-CN" altLang="en-US" sz="24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本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方法</a:t>
            </a:r>
            <a:r>
              <a:rPr lang="zh-CN" altLang="en-US" sz="24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使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单个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Attention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算子的性能提升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2.24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倍至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4.05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倍。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98" y="2772130"/>
            <a:ext cx="5040001" cy="2880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43536" y="5514360"/>
            <a:ext cx="4135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计算密集批次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访存密集批次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序列长度</a:t>
            </a:r>
            <a:endParaRPr lang="en-US" altLang="zh-CN" b="1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307" y="2772130"/>
            <a:ext cx="5040001" cy="2880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670165" y="5514360"/>
            <a:ext cx="4135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计算密集批次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访存密集批次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序列长度</a:t>
            </a:r>
            <a:endParaRPr lang="en-US" altLang="zh-CN" b="1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 rot="16200000">
            <a:off x="131434" y="4030977"/>
            <a:ext cx="1528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性能对比</a:t>
            </a:r>
            <a:endParaRPr lang="en-US" altLang="zh-CN" b="1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039279" y="2442092"/>
            <a:ext cx="2776592" cy="330038"/>
            <a:chOff x="2176612" y="5764616"/>
            <a:chExt cx="2776592" cy="330038"/>
          </a:xfrm>
        </p:grpSpPr>
        <p:sp>
          <p:nvSpPr>
            <p:cNvPr id="14" name="矩形 13"/>
            <p:cNvSpPr/>
            <p:nvPr/>
          </p:nvSpPr>
          <p:spPr>
            <a:xfrm>
              <a:off x="2544359" y="5764616"/>
              <a:ext cx="1017448" cy="33003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" panose="02020603050405020304" pitchFamily="18" charset="0"/>
                  <a:ea typeface="黑体" panose="02010609060101010101" pitchFamily="49" charset="-122"/>
                  <a:cs typeface="Times" panose="02020603050405020304" pitchFamily="18" charset="0"/>
                </a:rPr>
                <a:t>Pytorch</a:t>
              </a:r>
              <a:endPara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935756" y="5764616"/>
              <a:ext cx="1017448" cy="33003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" panose="02020603050405020304" pitchFamily="18" charset="0"/>
                  <a:ea typeface="黑体" panose="02010609060101010101" pitchFamily="49" charset="-122"/>
                  <a:cs typeface="Times" panose="02020603050405020304" pitchFamily="18" charset="0"/>
                </a:rPr>
                <a:t>Ours</a:t>
              </a:r>
              <a:endPara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176612" y="5840828"/>
              <a:ext cx="388305" cy="179714"/>
            </a:xfrm>
            <a:prstGeom prst="rect">
              <a:avLst/>
            </a:prstGeom>
            <a:solidFill>
              <a:srgbClr val="88B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561807" y="5848446"/>
              <a:ext cx="388305" cy="179714"/>
            </a:xfrm>
            <a:prstGeom prst="rect">
              <a:avLst/>
            </a:prstGeom>
            <a:solidFill>
              <a:srgbClr val="587FA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 flipV="1">
              <a:off x="3564158" y="5855523"/>
              <a:ext cx="139859" cy="172637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9" name="直接连接符 18"/>
            <p:cNvCxnSpPr/>
            <p:nvPr/>
          </p:nvCxnSpPr>
          <p:spPr>
            <a:xfrm flipV="1">
              <a:off x="3686030" y="5851982"/>
              <a:ext cx="139859" cy="172637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0" name="直接连接符 19"/>
            <p:cNvCxnSpPr/>
            <p:nvPr/>
          </p:nvCxnSpPr>
          <p:spPr>
            <a:xfrm flipV="1">
              <a:off x="3807498" y="5851983"/>
              <a:ext cx="139859" cy="172637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19"/>
          <p:cNvCxnSpPr/>
          <p:nvPr/>
        </p:nvCxnSpPr>
        <p:spPr bwMode="auto">
          <a:xfrm flipH="1">
            <a:off x="1420196" y="-10652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直接连接符 20"/>
          <p:cNvCxnSpPr/>
          <p:nvPr/>
        </p:nvCxnSpPr>
        <p:spPr bwMode="auto">
          <a:xfrm flipH="1">
            <a:off x="1489481" y="-4866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直接连接符 30"/>
          <p:cNvCxnSpPr/>
          <p:nvPr/>
        </p:nvCxnSpPr>
        <p:spPr bwMode="auto">
          <a:xfrm>
            <a:off x="1554569" y="-4866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1722566" y="128127"/>
            <a:ext cx="711805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汇报提纲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1489481" y="2109376"/>
            <a:ext cx="3739114" cy="2632710"/>
            <a:chOff x="3364547" y="2293620"/>
            <a:chExt cx="3739114" cy="2632710"/>
          </a:xfrm>
        </p:grpSpPr>
        <p:sp>
          <p:nvSpPr>
            <p:cNvPr id="20" name="Rectangle 6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368675" y="2293620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本课题总概述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368675" y="2982595"/>
              <a:ext cx="3734986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 smtClean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研究工作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进展</a:t>
              </a:r>
              <a:endParaRPr lang="en-US" altLang="zh-CN" sz="2800" b="1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endPara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368040" y="4347845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未来</a:t>
              </a:r>
              <a:r>
                <a:rPr lang="zh-CN" altLang="en-US" sz="2800" b="1" dirty="0" smtClean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工作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计划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endPara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64547" y="3657600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指标完成情况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Line 10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3581401" y="2865120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Line 10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581400" y="3557270"/>
              <a:ext cx="3045118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3581401" y="4925695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" name="Line 10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577908" y="4235450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911752" y="1838900"/>
            <a:ext cx="4737688" cy="3514575"/>
            <a:chOff x="1397086" y="1912525"/>
            <a:chExt cx="4737688" cy="3514575"/>
          </a:xfrm>
        </p:grpSpPr>
        <p:sp>
          <p:nvSpPr>
            <p:cNvPr id="29" name="矩形 28"/>
            <p:cNvSpPr/>
            <p:nvPr/>
          </p:nvSpPr>
          <p:spPr>
            <a:xfrm>
              <a:off x="1397086" y="1935712"/>
              <a:ext cx="4737688" cy="3491388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544730" y="2386000"/>
              <a:ext cx="4442400" cy="2900200"/>
              <a:chOff x="1094488" y="2898900"/>
              <a:chExt cx="4442400" cy="2900200"/>
            </a:xfrm>
            <a:noFill/>
          </p:grpSpPr>
          <p:sp>
            <p:nvSpPr>
              <p:cNvPr id="32" name="矩形 31"/>
              <p:cNvSpPr/>
              <p:nvPr/>
            </p:nvSpPr>
            <p:spPr>
              <a:xfrm>
                <a:off x="1094488" y="2898900"/>
                <a:ext cx="4442400" cy="70560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面向多样化算力的高性能易适配</a:t>
                </a:r>
                <a:endParaRPr lang="en-US" altLang="zh-CN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算子编程框架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094488" y="37904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访存感知的算子融合机制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1094488" y="53298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存算任务重叠的运行时资源调度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094488" y="4441700"/>
                <a:ext cx="2181512" cy="70560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张量程序与架构的自动映射器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3441600" y="4445650"/>
                <a:ext cx="2095288" cy="705600"/>
              </a:xfrm>
              <a:prstGeom prst="rect">
                <a:avLst/>
              </a:prstGeom>
              <a:grp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国产架构的混精训练技术</a:t>
                </a:r>
                <a:endPara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1" name="矩形 30"/>
            <p:cNvSpPr/>
            <p:nvPr/>
          </p:nvSpPr>
          <p:spPr>
            <a:xfrm>
              <a:off x="1397086" y="1912525"/>
              <a:ext cx="4737688" cy="469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本课题编译软件</a:t>
              </a:r>
              <a:endParaRPr lang="zh-CN" altLang="en-US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基于调度变换规则的自动映射框架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10DEEA-47B7-4406-B06C-3775E9DD7A8C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" name="内容占位符 2"/>
          <p:cNvSpPr txBox="1"/>
          <p:nvPr/>
        </p:nvSpPr>
        <p:spPr bwMode="auto">
          <a:xfrm>
            <a:off x="387346" y="964740"/>
            <a:ext cx="8352929" cy="2151431"/>
          </a:xfrm>
          <a:prstGeom prst="rect">
            <a:avLst/>
          </a:prstGeom>
          <a:noFill/>
          <a:ln>
            <a:noFill/>
          </a:ln>
        </p:spPr>
        <p:txBody>
          <a:bodyPr lIns="81690" tIns="40847" rIns="81690" bIns="40847"/>
          <a:lstStyle>
            <a:lvl1pPr marL="443230" indent="-44323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1008380" indent="-4445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14173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14173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14173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14173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defTabSz="816610">
              <a:lnSpc>
                <a:spcPct val="125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问题：张量程序到硬件计算架构的映射空间大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55650" lvl="1" indent="-355600" defTabSz="816610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b="1" dirty="0" smtClean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输入</a:t>
            </a:r>
            <a:r>
              <a:rPr lang="zh-CN" altLang="en-US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形状动态可变和国产</a:t>
            </a:r>
            <a:r>
              <a:rPr lang="en-US" altLang="zh-CN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AI</a:t>
            </a:r>
            <a:r>
              <a:rPr lang="zh-CN" altLang="en-US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加速卡架构</a:t>
            </a:r>
            <a:r>
              <a:rPr lang="zh-CN" altLang="en-US" b="1" dirty="0" smtClean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多样</a:t>
            </a:r>
            <a:endParaRPr lang="en-US" altLang="zh-CN" b="1" dirty="0" smtClean="0">
              <a:solidFill>
                <a:srgbClr val="0000FF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  <a:p>
            <a:pPr marL="457200" indent="-457200" defTabSz="816610">
              <a:lnSpc>
                <a:spcPct val="125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创新：基于调度变换规则的自动映射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框架</a:t>
            </a:r>
            <a:endParaRPr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55650" lvl="1" indent="-355600" defTabSz="816610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封装变换规则并实现张量自动映射</a:t>
            </a:r>
            <a:endParaRPr lang="en-US" altLang="zh-CN" b="1" dirty="0">
              <a:solidFill>
                <a:srgbClr val="0000FF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699" y="3148762"/>
            <a:ext cx="3694496" cy="226181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684" y="3148762"/>
            <a:ext cx="3103133" cy="2261812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200" y="1119796"/>
            <a:ext cx="3098260" cy="206671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201" y="3401250"/>
            <a:ext cx="3098260" cy="2066715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918699" y="5628432"/>
            <a:ext cx="10556762" cy="793115"/>
          </a:xfrm>
          <a:prstGeom prst="rect">
            <a:avLst/>
          </a:prstGeom>
          <a:solidFill>
            <a:srgbClr val="F2BA02">
              <a:lumMod val="20000"/>
              <a:lumOff val="80000"/>
            </a:srgbClr>
          </a:solidFill>
          <a:ln w="12700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在国产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加速卡上，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框架自动生成的FlashAttention注意力算子，相较于Meta PyTorch 2.0定制内核SPDA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平均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性能提升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倍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定制混合精度算子库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10DEEA-47B7-4406-B06C-3775E9DD7A8C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387302" y="976545"/>
            <a:ext cx="11458955" cy="2462691"/>
          </a:xfrm>
          <a:prstGeom prst="rect">
            <a:avLst/>
          </a:prstGeom>
          <a:noFill/>
          <a:ln>
            <a:noFill/>
          </a:ln>
        </p:spPr>
        <p:txBody>
          <a:bodyPr lIns="81690" tIns="40847" rIns="81690" bIns="40847"/>
          <a:lstStyle>
            <a:lvl1pPr marL="443230" indent="-44323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1008380" indent="-4445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14173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14173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14173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14173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defTabSz="816610">
              <a:lnSpc>
                <a:spcPct val="125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问题：大模型训练对硬件算力与访存带宽的需求过高</a:t>
            </a:r>
            <a:endParaRPr lang="en-US" altLang="zh-CN" sz="2400" b="1" dirty="0"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  <a:p>
            <a:pPr marL="457200" indent="-457200" defTabSz="816610">
              <a:lnSpc>
                <a:spcPct val="125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创新：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混合使用多种精度数据类型，降本增效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55650" lvl="1" indent="-355600" defTabSz="816610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计算加速</a:t>
            </a:r>
            <a:r>
              <a:rPr lang="zh-CN" altLang="en-US" b="1" dirty="0" smtClean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：利用</a:t>
            </a:r>
            <a:r>
              <a:rPr lang="zh-CN" altLang="en-US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低精度计算单元的加速</a:t>
            </a:r>
            <a:r>
              <a:rPr lang="zh-CN" altLang="en-US" b="1" dirty="0" smtClean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效果</a:t>
            </a:r>
            <a:endParaRPr lang="en-US" altLang="zh-CN" b="1" dirty="0">
              <a:solidFill>
                <a:srgbClr val="0000FF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  <a:p>
            <a:pPr marL="755650" lvl="1" indent="-355600" defTabSz="816610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硬件感知：适配硬件存储层次，优化数据</a:t>
            </a:r>
            <a:r>
              <a:rPr lang="zh-CN" altLang="en-US" b="1" dirty="0" smtClean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复用</a:t>
            </a:r>
            <a:endParaRPr lang="en-US" altLang="zh-CN" b="1" dirty="0">
              <a:solidFill>
                <a:srgbClr val="0000FF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  <a:p>
            <a:pPr marL="755650" lvl="1" indent="-355600" defTabSz="816610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访存优化：算子融合以显著降低访存带宽</a:t>
            </a:r>
            <a:r>
              <a:rPr lang="zh-CN" altLang="en-US" b="1" dirty="0" smtClean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开销</a:t>
            </a:r>
            <a:endParaRPr lang="zh-CN" altLang="en-US" b="1" dirty="0">
              <a:solidFill>
                <a:srgbClr val="0000FF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  <a:p>
            <a:pPr marL="755650" lvl="1" indent="-355600" defTabSz="816610">
              <a:lnSpc>
                <a:spcPct val="125000"/>
              </a:lnSpc>
              <a:buClr>
                <a:srgbClr val="E2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400" b="1" dirty="0">
              <a:solidFill>
                <a:srgbClr val="1F497D">
                  <a:lumMod val="75000"/>
                </a:srgbClr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913" y="1548372"/>
            <a:ext cx="3291795" cy="2088000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298" y="3757587"/>
            <a:ext cx="3197697" cy="208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841" y="3524902"/>
            <a:ext cx="4600064" cy="2347426"/>
          </a:xfrm>
          <a:prstGeom prst="rect">
            <a:avLst/>
          </a:prstGeom>
        </p:spPr>
      </p:pic>
      <p:sp>
        <p:nvSpPr>
          <p:cNvPr id="81" name="矩形 80"/>
          <p:cNvSpPr/>
          <p:nvPr/>
        </p:nvSpPr>
        <p:spPr>
          <a:xfrm>
            <a:off x="3916907" y="6038854"/>
            <a:ext cx="7786048" cy="396065"/>
          </a:xfrm>
          <a:prstGeom prst="rect">
            <a:avLst/>
          </a:prstGeom>
          <a:solidFill>
            <a:srgbClr val="F2BA02">
              <a:lumMod val="20000"/>
              <a:lumOff val="80000"/>
            </a:srgbClr>
          </a:solidFill>
          <a:ln w="12700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GEMM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GEMV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相比 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Pytorch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手写算子平均快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3.03×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2.26×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138" y="3524903"/>
            <a:ext cx="2938527" cy="2971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负载感知的自适应量化框架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10DEEA-47B7-4406-B06C-3775E9DD7A8C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内容占位符 2"/>
          <p:cNvSpPr txBox="1"/>
          <p:nvPr/>
        </p:nvSpPr>
        <p:spPr bwMode="auto">
          <a:xfrm>
            <a:off x="387346" y="964740"/>
            <a:ext cx="8352929" cy="2151431"/>
          </a:xfrm>
          <a:prstGeom prst="rect">
            <a:avLst/>
          </a:prstGeom>
          <a:noFill/>
          <a:ln>
            <a:noFill/>
          </a:ln>
        </p:spPr>
        <p:txBody>
          <a:bodyPr lIns="81690" tIns="40847" rIns="81690" bIns="40847"/>
          <a:lstStyle>
            <a:lvl1pPr marL="443230" indent="-44323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1008380" indent="-4445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14173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14173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14173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14173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defTabSz="816610">
              <a:lnSpc>
                <a:spcPct val="125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问题：单一量化技术无法适配动态计算负载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55650" lvl="1" indent="-355600" defTabSz="816610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W4A16</a:t>
            </a:r>
            <a:r>
              <a:rPr lang="zh-CN" altLang="en-US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适配访存瓶颈负载，</a:t>
            </a:r>
            <a:r>
              <a:rPr lang="en-US" altLang="zh-CN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W8A8</a:t>
            </a:r>
            <a:r>
              <a:rPr lang="zh-CN" altLang="en-US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适配计算瓶颈负载</a:t>
            </a:r>
            <a:endParaRPr lang="en-US" altLang="zh-CN" b="1" dirty="0">
              <a:solidFill>
                <a:srgbClr val="0000FF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  <a:p>
            <a:pPr marL="457200" indent="-457200" defTabSz="816610">
              <a:lnSpc>
                <a:spcPct val="125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创新：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负载感知的自适应混合精度量化框架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55650" lvl="1" indent="-355600" defTabSz="816610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solidFill>
                  <a:srgbClr val="0000FF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离线剖析动态负载特征，低开销自动转换张量精度</a:t>
            </a:r>
            <a:endParaRPr lang="en-US" altLang="zh-CN" b="1" dirty="0">
              <a:solidFill>
                <a:srgbClr val="0000FF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168" y="3186214"/>
            <a:ext cx="7187364" cy="24377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956" y="1043753"/>
            <a:ext cx="2764844" cy="23754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956" y="3411673"/>
            <a:ext cx="2764844" cy="2346123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851168" y="5871676"/>
            <a:ext cx="10502632" cy="436906"/>
          </a:xfrm>
          <a:prstGeom prst="rect">
            <a:avLst/>
          </a:prstGeom>
          <a:solidFill>
            <a:srgbClr val="F2BA02">
              <a:lumMod val="20000"/>
              <a:lumOff val="80000"/>
            </a:srgbClr>
          </a:solidFill>
          <a:ln w="12700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量化后线性层相比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Pytorch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全精度线性层快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1.43~2.48×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，平均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1.79×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19"/>
          <p:cNvCxnSpPr/>
          <p:nvPr/>
        </p:nvCxnSpPr>
        <p:spPr bwMode="auto">
          <a:xfrm flipH="1">
            <a:off x="1420196" y="-10652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直接连接符 20"/>
          <p:cNvCxnSpPr/>
          <p:nvPr/>
        </p:nvCxnSpPr>
        <p:spPr bwMode="auto">
          <a:xfrm flipH="1">
            <a:off x="1489481" y="-4866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直接连接符 30"/>
          <p:cNvCxnSpPr/>
          <p:nvPr/>
        </p:nvCxnSpPr>
        <p:spPr bwMode="auto">
          <a:xfrm>
            <a:off x="1554569" y="-4866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1722566" y="128127"/>
            <a:ext cx="711805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汇报提纲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489481" y="2109376"/>
            <a:ext cx="3739114" cy="2632710"/>
            <a:chOff x="3364547" y="2293620"/>
            <a:chExt cx="3739114" cy="2632710"/>
          </a:xfrm>
        </p:grpSpPr>
        <p:sp>
          <p:nvSpPr>
            <p:cNvPr id="21" name="Rectangle 6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368675" y="2293620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本课题总概述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368675" y="2982595"/>
              <a:ext cx="3734986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研究工作</a:t>
              </a:r>
              <a:r>
                <a:rPr lang="zh-CN" altLang="en-US" sz="28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进展</a:t>
              </a:r>
              <a:endParaRPr lang="en-US" altLang="zh-CN" sz="2800" b="1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endPara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368040" y="4347845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未来</a:t>
              </a:r>
              <a:r>
                <a:rPr lang="zh-CN" altLang="en-US" sz="2800" b="1" dirty="0" smtClean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工作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计划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endPara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" name="Rectangle 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64547" y="3657600"/>
              <a:ext cx="3192067" cy="41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l" fontAlgn="base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Font typeface="Wingdings" panose="05000000000000000000" pitchFamily="2" charset="2"/>
                <a:buChar char="n"/>
              </a:pP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指标完成情况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" name="Line 10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3581401" y="2865120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" name="Line 10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581400" y="3557270"/>
              <a:ext cx="3045118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" name="Line 10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3581401" y="4925695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2" name="Line 10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577908" y="4235450"/>
              <a:ext cx="3044680" cy="6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n>
                  <a:solidFill>
                    <a:srgbClr val="003399"/>
                  </a:solidFill>
                </a:ln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911752" y="1838900"/>
            <a:ext cx="4737688" cy="3514575"/>
            <a:chOff x="1397086" y="1912525"/>
            <a:chExt cx="4737688" cy="3514575"/>
          </a:xfrm>
        </p:grpSpPr>
        <p:sp>
          <p:nvSpPr>
            <p:cNvPr id="34" name="矩形 33"/>
            <p:cNvSpPr/>
            <p:nvPr/>
          </p:nvSpPr>
          <p:spPr>
            <a:xfrm>
              <a:off x="1397086" y="1935712"/>
              <a:ext cx="4737688" cy="349138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544730" y="2386000"/>
              <a:ext cx="4442400" cy="2900200"/>
              <a:chOff x="1094488" y="2898900"/>
              <a:chExt cx="4442400" cy="2900200"/>
            </a:xfrm>
            <a:noFill/>
          </p:grpSpPr>
          <p:sp>
            <p:nvSpPr>
              <p:cNvPr id="37" name="矩形 36"/>
              <p:cNvSpPr/>
              <p:nvPr/>
            </p:nvSpPr>
            <p:spPr>
              <a:xfrm>
                <a:off x="1094488" y="2898900"/>
                <a:ext cx="4442400" cy="705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面向多样化算力的高性能易适配</a:t>
                </a:r>
                <a:endParaRPr lang="en-US" altLang="zh-CN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算子编程框架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094488" y="37904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访存感知的算子融合机制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1094488" y="5329850"/>
                <a:ext cx="4442400" cy="4692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存算任务重叠的运行时资源调度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1094488" y="4441700"/>
                <a:ext cx="2181512" cy="705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张量程序与架构的自动映射器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3441600" y="4445650"/>
                <a:ext cx="2095288" cy="705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国产架构的混精训练技术</a:t>
                </a:r>
                <a:endPara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6" name="矩形 35"/>
            <p:cNvSpPr/>
            <p:nvPr/>
          </p:nvSpPr>
          <p:spPr>
            <a:xfrm>
              <a:off x="1397086" y="1912525"/>
              <a:ext cx="4737688" cy="469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本课题编译软件</a:t>
              </a:r>
              <a:endPara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指标完成情况</a:t>
            </a:r>
            <a:r>
              <a:rPr lang="en-US" altLang="zh-CN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(1)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0730" y="1764665"/>
          <a:ext cx="10670540" cy="3236595"/>
        </p:xfrm>
        <a:graphic>
          <a:graphicData uri="http://schemas.openxmlformats.org/drawingml/2006/table">
            <a:tbl>
              <a:tblPr firstRow="1" bandRow="1"/>
              <a:tblGrid>
                <a:gridCol w="1638935"/>
                <a:gridCol w="1230639"/>
                <a:gridCol w="2750024"/>
                <a:gridCol w="2782087"/>
                <a:gridCol w="2268855"/>
              </a:tblGrid>
              <a:tr h="57340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指标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名称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latin typeface="Times New Roman" panose="02020603050405020304" pitchFamily="18" charset="0"/>
                          <a:cs typeface="Arial" panose="020B0604020202020204" pitchFamily="34" charset="0"/>
                          <a:sym typeface="+mn-ea"/>
                        </a:rPr>
                        <a:t>中期指标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latin typeface="Times New Roman" panose="02020603050405020304" pitchFamily="18" charset="0"/>
                          <a:cs typeface="Arial" panose="020B0604020202020204" pitchFamily="34" charset="0"/>
                          <a:sym typeface="+mn-ea"/>
                        </a:rPr>
                        <a:t>目前指标完成情况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课题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结题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指标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6631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just"/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面向国产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加速卡的大模型存算协同编译软件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just"/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编译性能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相比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Meta </a:t>
                      </a:r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Pytorch 2.0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，编译软件使得大模型在国产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AI 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加速卡上的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端到端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训练性能提升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</a:t>
                      </a:r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 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倍以上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 PyTorch 2.0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的定制注意力内核</a:t>
                      </a:r>
                      <a:r>
                        <a:rPr lang="en-US" altLang="zh-CN" sz="2000" kern="12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SPDA</a:t>
                      </a:r>
                      <a:r>
                        <a:rPr lang="en-US" altLang="zh-CN" sz="2000" kern="1200" baseline="30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相比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编译软件生成的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注意力内核在国产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 AI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加速卡</a:t>
                      </a: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上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摩尔线程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MTT </a:t>
                      </a:r>
                      <a:r>
                        <a:rPr lang="en-US" altLang="zh-CN" sz="2000" kern="12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S4000</a:t>
                      </a: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与沐曦</a:t>
                      </a:r>
                      <a:r>
                        <a:rPr lang="en-US" altLang="zh-CN" sz="2000" kern="12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C500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平均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性能提升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倍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相比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Meta Pytorch 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，编译软件使得大模型在国产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AI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加速卡上的端到端训练性能提升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倍以上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756017" y="5107958"/>
            <a:ext cx="106705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 Meta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PyTorch 2.0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的定制注意力内核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SPDA(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Scaled Dot Product Attention Kernels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用于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注意力层的计算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指标完成情况</a:t>
            </a:r>
            <a:r>
              <a:rPr lang="en-US" altLang="zh-CN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(2)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0730" y="1646555"/>
          <a:ext cx="10670540" cy="4098925"/>
        </p:xfrm>
        <a:graphic>
          <a:graphicData uri="http://schemas.openxmlformats.org/drawingml/2006/table">
            <a:tbl>
              <a:tblPr firstRow="1" bandRow="1"/>
              <a:tblGrid>
                <a:gridCol w="1638935"/>
                <a:gridCol w="1391285"/>
                <a:gridCol w="2132178"/>
                <a:gridCol w="3439236"/>
                <a:gridCol w="2068906"/>
              </a:tblGrid>
              <a:tr h="57340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指标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名称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latin typeface="Times New Roman" panose="02020603050405020304" pitchFamily="18" charset="0"/>
                          <a:cs typeface="Arial" panose="020B0604020202020204" pitchFamily="34" charset="0"/>
                          <a:sym typeface="+mn-ea"/>
                        </a:rPr>
                        <a:t>中期指标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latin typeface="Times New Roman" panose="02020603050405020304" pitchFamily="18" charset="0"/>
                          <a:cs typeface="Arial" panose="020B0604020202020204" pitchFamily="34" charset="0"/>
                          <a:sym typeface="+mn-ea"/>
                        </a:rPr>
                        <a:t>目前指标完成情况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课题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结题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指标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7266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just"/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面向国产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加速卡的大模型存算协同编译软件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just"/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ea"/>
                        </a:rPr>
                        <a:t>国产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ea"/>
                        </a:rPr>
                        <a:t>AI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ea"/>
                        </a:rPr>
                        <a:t>加速卡兼容性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编译软件支持在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1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款国产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AI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加速卡上正确完成不同训练批次的主流大模型训练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在已构建的国产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加速卡的云服务器上，已完成对摩尔线程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MTT S4000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与沐曦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C500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两款加速卡的编译及运行时支持并通过精度验证。正在进行对昇腾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910B4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的兼容工作。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编译软件支持在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2 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款国产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AI 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加速卡上正确完成不同训练批次的主流大模型训练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0259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学术论文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20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篇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篇</a:t>
                      </a:r>
                      <a:r>
                        <a:rPr lang="en-US" altLang="zh-CN" sz="20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(HPCA’26, TCAO’25x2)</a:t>
                      </a:r>
                      <a:endParaRPr lang="zh-CN" altLang="en-US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篇</a:t>
                      </a:r>
                      <a:endParaRPr lang="zh-CN" altLang="en-US" sz="20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1369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专利申请 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20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项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项，还有</a:t>
                      </a: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项正在申请</a:t>
                      </a:r>
                      <a:endParaRPr lang="zh-CN" alt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项</a:t>
                      </a:r>
                      <a:endParaRPr lang="zh-CN" altLang="en-US" sz="20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rgbClr val="665EB8"/>
                      </a:solidFill>
                    </a:lnL>
                    <a:lnR w="12700" cmpd="sng">
                      <a:solidFill>
                        <a:srgbClr val="665EB8"/>
                      </a:solidFill>
                    </a:lnR>
                    <a:lnT w="12700" cmpd="sng">
                      <a:solidFill>
                        <a:srgbClr val="665EB8"/>
                      </a:solidFill>
                    </a:lnT>
                    <a:lnB w="12700" cmpd="sng">
                      <a:solidFill>
                        <a:srgbClr val="665EB8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177390" y="128127"/>
            <a:ext cx="11827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 smtClean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下一步计划</a:t>
            </a:r>
            <a:endParaRPr lang="en-US" altLang="zh-CN" sz="32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DEEA-47B7-4406-B06C-3775E9DD7A8C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25926" y="1407613"/>
          <a:ext cx="10930724" cy="4660639"/>
        </p:xfrm>
        <a:graphic>
          <a:graphicData uri="http://schemas.openxmlformats.org/drawingml/2006/table">
            <a:tbl>
              <a:tblPr firstRow="1" bandRow="1"/>
              <a:tblGrid>
                <a:gridCol w="3057102"/>
                <a:gridCol w="2961564"/>
                <a:gridCol w="3057099"/>
                <a:gridCol w="1854959"/>
              </a:tblGrid>
              <a:tr h="5167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40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研究内容</a:t>
                      </a:r>
                      <a:endParaRPr lang="zh-CN" altLang="en-US" sz="240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40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已完成</a:t>
                      </a:r>
                      <a:endParaRPr lang="zh-CN" altLang="en-US" sz="240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40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下一步计划</a:t>
                      </a:r>
                      <a:endParaRPr lang="zh-CN" altLang="en-US" sz="240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40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中期指标</a:t>
                      </a:r>
                      <a:endParaRPr lang="zh-CN" altLang="en-US" sz="240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lumMod val="75000"/>
                      </a:srgbClr>
                    </a:solidFill>
                  </a:tcPr>
                </a:tc>
              </a:tr>
              <a:tr h="7301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访存感知的算子融合机制</a:t>
                      </a:r>
                      <a:endParaRPr lang="en-US" altLang="zh-CN" sz="20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重计算与注意力算子融合方法</a:t>
                      </a:r>
                      <a:endParaRPr lang="en-US" altLang="zh-CN" sz="2000" b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基于数据传输开销分析重排序技术</a:t>
                      </a:r>
                      <a:endParaRPr lang="en-US" altLang="zh-CN" sz="2000" b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编译软件使</a:t>
                      </a:r>
                      <a:endParaRPr lang="en-US" altLang="zh-CN" sz="2000" b="1" dirty="0" smtClean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大模型训练</a:t>
                      </a:r>
                      <a:endParaRPr lang="en-US" altLang="zh-CN" sz="2000" b="1" dirty="0" smtClean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性能提升</a:t>
                      </a:r>
                      <a:r>
                        <a:rPr lang="en-US" altLang="zh-CN" sz="2000" b="1" kern="1200" dirty="0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≥1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倍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zh-CN" altLang="en-US" sz="2000" b="1" kern="12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支持</a:t>
                      </a:r>
                      <a:r>
                        <a:rPr lang="zh-CN" altLang="en-US" sz="2000" b="1" kern="1200" dirty="0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kern="1200" dirty="0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1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款国产加速卡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</a:tr>
              <a:tr h="6122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跨架构算子编程框架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前端编程设计</a:t>
                      </a:r>
                      <a:endParaRPr lang="en-US" altLang="zh-CN" sz="2000" b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后端架构映射</a:t>
                      </a:r>
                      <a:endParaRPr lang="en-US" altLang="zh-CN" sz="2000" b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细粒度编程接口设计</a:t>
                      </a:r>
                      <a:endParaRPr lang="en-US" altLang="zh-CN" sz="2000" b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endParaRPr lang="en-US" altLang="zh-CN" sz="2000" b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 v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</a:tr>
              <a:tr h="4999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张量程序与架构的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自动映射框架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b="0" kern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张量映射规则</a:t>
                      </a:r>
                      <a:endParaRPr lang="en-US" altLang="zh-CN" sz="2000" b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基于通信流量评估的代价模型</a:t>
                      </a:r>
                      <a:endParaRPr lang="en-US" altLang="zh-CN" sz="2000" b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 v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</a:tr>
              <a:tr h="6122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国产计算架构的混精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训练和算子库构建技术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量化与部分计算密集型算子的融合</a:t>
                      </a:r>
                      <a:endParaRPr lang="en-US" altLang="zh-CN" sz="2000">
                        <a:latin typeface="黑体" panose="02010609060101010101" pitchFamily="49" charset="-122"/>
                        <a:ea typeface="黑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反量化与部分访存密集型算子的融合</a:t>
                      </a:r>
                      <a:endParaRPr lang="en-US" altLang="zh-CN" sz="2000" b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混精算子库以及混精训练技术</a:t>
                      </a:r>
                      <a:endParaRPr lang="en-US" altLang="zh-CN" sz="2000" b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 v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</a:tr>
              <a:tr h="6122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存算任务重叠的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运行时资源调度方法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b="0" kern="0"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任务抽象</a:t>
                      </a:r>
                      <a:endParaRPr lang="en-US" altLang="zh-CN" sz="2000" b="0" kern="0"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b="0" kern="0"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计算特性剖析</a:t>
                      </a:r>
                      <a:endParaRPr lang="en-US" altLang="zh-CN" sz="2000" b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b="0" kern="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存算资源抽象</a:t>
                      </a:r>
                      <a:endParaRPr lang="en-US" altLang="zh-CN" sz="2000" b="0" kern="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endParaRPr lang="en-US" altLang="zh-CN" sz="2000" b="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  <a:tc v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0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/>
          <p:cNvSpPr txBox="1"/>
          <p:nvPr/>
        </p:nvSpPr>
        <p:spPr>
          <a:xfrm>
            <a:off x="0" y="1869574"/>
            <a:ext cx="12192000" cy="1263847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9"/>
          <p:cNvSpPr txBox="1">
            <a:spLocks noChangeArrowheads="1"/>
          </p:cNvSpPr>
          <p:nvPr/>
        </p:nvSpPr>
        <p:spPr bwMode="auto">
          <a:xfrm>
            <a:off x="1" y="2088792"/>
            <a:ext cx="121919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4800" b="1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恳请各位专家批评指正！</a:t>
            </a:r>
            <a:endParaRPr lang="en-US" altLang="zh-CN" sz="4800" b="1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" y="330014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沈明华 博士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3846598"/>
            <a:ext cx="12192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中山大学计算机学院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中山大学国家超级计算广州中心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2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3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4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5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6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7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8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9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10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11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12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13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14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15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16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17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18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19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20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21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22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23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24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25.xml><?xml version="1.0" encoding="utf-8"?>
<p:tagLst xmlns:p="http://schemas.openxmlformats.org/presentationml/2006/main">
  <p:tag name="PA" val="v5.2.10"/>
  <p:tag name="PAMAINTYPE" val="4"/>
  <p:tag name="PATYPE" val="140"/>
  <p:tag name="PASUBTYPE" val="141"/>
  <p:tag name="RESOURCELIBID_SHAPE" val="3619"/>
  <p:tag name="RESOURCELIB_SHAPETYPE" val="4"/>
</p:tagLst>
</file>

<file path=ppt/tags/tag26.xml><?xml version="1.0" encoding="utf-8"?>
<p:tagLst xmlns:p="http://schemas.openxmlformats.org/presentationml/2006/main">
  <p:tag name="PA" val="v5.2.10"/>
  <p:tag name="PAMAINTYPE" val="4"/>
  <p:tag name="PATYPE" val="140"/>
  <p:tag name="PASUBTYPE" val="141"/>
  <p:tag name="RESOURCELIBID_SHAPE" val="3619"/>
  <p:tag name="RESOURCELIB_SHAPETYPE" val="4"/>
</p:tagLst>
</file>

<file path=ppt/tags/tag27.xml><?xml version="1.0" encoding="utf-8"?>
<p:tagLst xmlns:p="http://schemas.openxmlformats.org/presentationml/2006/main">
  <p:tag name="PA" val="v5.2.10"/>
  <p:tag name="PAMAINTYPE" val="4"/>
  <p:tag name="PATYPE" val="140"/>
  <p:tag name="PASUBTYPE" val="141"/>
  <p:tag name="RESOURCELIBID_SHAPE" val="3619"/>
  <p:tag name="RESOURCELIB_SHAPETYPE" val="4"/>
</p:tagLst>
</file>

<file path=ppt/tags/tag28.xml><?xml version="1.0" encoding="utf-8"?>
<p:tagLst xmlns:p="http://schemas.openxmlformats.org/presentationml/2006/main">
  <p:tag name="PA" val="v5.2.10"/>
  <p:tag name="PAMAINTYPE" val="4"/>
  <p:tag name="PATYPE" val="140"/>
  <p:tag name="PASUBTYPE" val="141"/>
  <p:tag name="RESOURCELIBID_SHAPE" val="3619"/>
  <p:tag name="RESOURCELIB_SHAPETYPE" val="4"/>
</p:tagLst>
</file>

<file path=ppt/tags/tag29.xml><?xml version="1.0" encoding="utf-8"?>
<p:tagLst xmlns:p="http://schemas.openxmlformats.org/presentationml/2006/main">
  <p:tag name="PA" val="v5.2.10"/>
  <p:tag name="PAMAINTYPE" val="4"/>
  <p:tag name="PATYPE" val="140"/>
  <p:tag name="PASUBTYPE" val="141"/>
  <p:tag name="RESOURCELIBID_SHAPE" val="3619"/>
  <p:tag name="RESOURCELIB_SHAPETYPE" val="4"/>
</p:tagLst>
</file>

<file path=ppt/tags/tag30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31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32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33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34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35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36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37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45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46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47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48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49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50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51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52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53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54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55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56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57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58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59.xml><?xml version="1.0" encoding="utf-8"?>
<p:tagLst xmlns:p="http://schemas.openxmlformats.org/presentationml/2006/main">
  <p:tag name="KSO_WM_DIAGRAM_VIRTUALLY_FRAME" val="{&quot;height&quot;:271.9,&quot;left&quot;:7.725118110236235,&quot;top&quot;:145.25,&quot;width&quot;:943.8249606299214}"/>
</p:tagLst>
</file>

<file path=ppt/tags/tag60.xml><?xml version="1.0" encoding="utf-8"?>
<p:tagLst xmlns:p="http://schemas.openxmlformats.org/presentationml/2006/main">
  <p:tag name="TABLE_ENDDRAG_ORIGIN_RECT" val="840*223"/>
  <p:tag name="TABLE_ENDDRAG_RECT" val="51*138*840*223"/>
</p:tagLst>
</file>

<file path=ppt/tags/tag61.xml><?xml version="1.0" encoding="utf-8"?>
<p:tagLst xmlns:p="http://schemas.openxmlformats.org/presentationml/2006/main">
  <p:tag name="TABLE_ENDDRAG_ORIGIN_RECT" val="840*223"/>
  <p:tag name="TABLE_ENDDRAG_RECT" val="51*138*840*22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5980</Words>
  <Application>WPS 演示</Application>
  <PresentationFormat>宽屏</PresentationFormat>
  <Paragraphs>1104</Paragraphs>
  <Slides>36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2" baseType="lpstr">
      <vt:lpstr>Arial</vt:lpstr>
      <vt:lpstr>宋体</vt:lpstr>
      <vt:lpstr>Wingdings</vt:lpstr>
      <vt:lpstr>黑体</vt:lpstr>
      <vt:lpstr>微软雅黑</vt:lpstr>
      <vt:lpstr>Calibri</vt:lpstr>
      <vt:lpstr>Times New Roman</vt:lpstr>
      <vt:lpstr>Calibri</vt:lpstr>
      <vt:lpstr>Times</vt:lpstr>
      <vt:lpstr>Arial Unicode MS</vt:lpstr>
      <vt:lpstr>等线 Light</vt:lpstr>
      <vt:lpstr>等线</vt:lpstr>
      <vt:lpstr>Book Antiqua</vt:lpstr>
      <vt:lpstr>Times New Roman</vt:lpstr>
      <vt:lpstr>Times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泽熙 谢</dc:creator>
  <cp:lastModifiedBy>杨荣杰</cp:lastModifiedBy>
  <cp:revision>184</cp:revision>
  <dcterms:created xsi:type="dcterms:W3CDTF">2025-07-03T15:59:00Z</dcterms:created>
  <dcterms:modified xsi:type="dcterms:W3CDTF">2026-01-30T15:22:18Z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F1E58BFD1E2B40D0A8DA6BC992AE7281_12</vt:lpwstr>
  </property>
</Properties>
</file>