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1000000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4000" b="1">
                <a:solidFill>
                  <a:srgbClr val="1B3A5C"/>
                </a:solidFill>
                <a:latin typeface="黑体"/>
              </a:defRPr>
            </a:pPr>
            <a:r>
              <a:t>MECC：面向 Sub-CPU 内存预算的</a:t>
            </a:r>
          </a:p>
          <a:p>
            <a:pPr algn="ctr">
              <a:spcAft>
                <a:spcPts val="800"/>
              </a:spcAft>
              <a:defRPr sz="4000" b="1">
                <a:solidFill>
                  <a:srgbClr val="1B3A5C"/>
                </a:solidFill>
                <a:latin typeface="黑体"/>
              </a:defRPr>
            </a:pPr>
            <a:r>
              <a:t>无损三级 Expert 缓存编译器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0000" y="3100000"/>
            <a:ext cx="3800000" cy="40000"/>
          </a:xfrm>
          <a:prstGeom prst="rect">
            <a:avLst/>
          </a:prstGeom>
          <a:solidFill>
            <a:srgbClr val="E7B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300000"/>
            <a:ext cx="11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C0000"/>
                </a:solidFill>
                <a:latin typeface="黑体"/>
              </a:defRPr>
            </a:pPr>
            <a:r>
              <a:t>中期工作汇报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7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  <a:latin typeface="黑体"/>
              </a:defRPr>
            </a:pPr>
            <a:r>
              <a:t>中山大学计算机学院  ·  国家超级计算广州中心</a:t>
            </a:r>
          </a:p>
          <a:p>
            <a:pPr algn="ctr">
              <a:defRPr sz="1600">
                <a:solidFill>
                  <a:srgbClr val="666666"/>
                </a:solidFill>
                <a:latin typeface="Times New Roman"/>
              </a:defRPr>
            </a:pPr>
            <a:r>
              <a:t>2026年7月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汇报提纲</a:t>
            </a:r>
          </a:p>
        </p:txBody>
      </p:sp>
      <p:sp>
        <p:nvSpPr>
          <p:cNvPr id="4" name="Oval 3"/>
          <p:cNvSpPr/>
          <p:nvPr/>
        </p:nvSpPr>
        <p:spPr>
          <a:xfrm>
            <a:off x="600000" y="1440000"/>
            <a:ext cx="480000" cy="480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1400000"/>
            <a:ext cx="5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黑体"/>
              </a:defRPr>
            </a:pPr>
            <a:r>
              <a:t>研究背景与动机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0000" y="182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黑体"/>
              </a:defRPr>
            </a:pPr>
            <a:r>
              <a:t>MoE 推理的存储瓶颈与现有方案局限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840000" y="1920000"/>
            <a:ext cx="14000" cy="430000"/>
          </a:xfrm>
          <a:prstGeom prst="rect">
            <a:avLst/>
          </a:prstGeom>
          <a:solidFill>
            <a:srgbClr val="AAE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0000" y="2390000"/>
            <a:ext cx="480000" cy="480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000" y="2350000"/>
            <a:ext cx="5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黑体"/>
              </a:defRPr>
            </a:pPr>
            <a:r>
              <a:t>MECC 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000" y="277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黑体"/>
              </a:defRPr>
            </a:pPr>
            <a:r>
              <a:t>三级缓存 · 联合动态 LRU · 恒等搬运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000" y="2870000"/>
            <a:ext cx="14000" cy="430000"/>
          </a:xfrm>
          <a:prstGeom prst="rect">
            <a:avLst/>
          </a:prstGeom>
          <a:solidFill>
            <a:srgbClr val="AAE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000" y="3340000"/>
            <a:ext cx="480000" cy="480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0000" y="3300000"/>
            <a:ext cx="5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黑体"/>
              </a:defRPr>
            </a:pPr>
            <a:r>
              <a:t>形式化分析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0000" y="372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黑体"/>
              </a:defRPr>
            </a:pPr>
            <a:r>
              <a:t>Zipf 命中率闭式 · 单调性 · 无损保证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000" y="3820000"/>
            <a:ext cx="14000" cy="430000"/>
          </a:xfrm>
          <a:prstGeom prst="rect">
            <a:avLst/>
          </a:prstGeom>
          <a:solidFill>
            <a:srgbClr val="AAE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0000" y="4290000"/>
            <a:ext cx="480000" cy="480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0000" y="4250000"/>
            <a:ext cx="5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黑体"/>
              </a:defRPr>
            </a:pPr>
            <a:r>
              <a:t>实验评估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0000" y="467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黑体"/>
              </a:defRPr>
            </a:pPr>
            <a:r>
              <a:t>Mixtral 主战场：1.33× 加速 · SSD 命中率−49%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0000" y="4770000"/>
            <a:ext cx="14000" cy="430000"/>
          </a:xfrm>
          <a:prstGeom prst="rect">
            <a:avLst/>
          </a:prstGeom>
          <a:solidFill>
            <a:srgbClr val="AAE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0000" y="5240000"/>
            <a:ext cx="480000" cy="480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Times New Roman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0000" y="5200000"/>
            <a:ext cx="50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黑体"/>
              </a:defRPr>
            </a:pPr>
            <a:r>
              <a:t>总结与展望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0000" y="5620000"/>
            <a:ext cx="10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66666"/>
                </a:solidFill>
                <a:latin typeface="黑体"/>
              </a:defRPr>
            </a:pPr>
            <a:r>
              <a:t>适用边界 · 理论缺口 · 下一步攻关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研究背景：MoE 推理的存储瓶颈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00000"/>
            <a:ext cx="5700000" cy="11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MoE 层的核心矛盾：计算与存储的非对称性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每个 token 仅激活 top-k 个 expert（k ≪ N）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Mixtral-8×7B：32层 × 8expert × 336MB ≈ 90 GB (fp16)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计算开销 ∝ k（小），存储开销 ∝ N（极大）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全部 expert 必须驻留内存，但容量远超单卡 HBM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0000" y="1100000"/>
            <a:ext cx="5500000" cy="11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三级存储的巨大延迟鸿沟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HBM 命中    255.8 µs      ▏           (基线)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CPU 命中    6,504 µs      ████          (×25)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SSD 冷读    789,739 µs    ████████████  (×3088)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500000"/>
            <a:ext cx="3600000" cy="14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情形一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模型 ≤ HBM 容量</a:t>
            </a:r>
            <a:br/>
            <a:r>
              <a:t>无需 offload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0000" y="2500000"/>
            <a:ext cx="3600000" cy="14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情形二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HBM &lt; 模型 ≤ CPU 容量</a:t>
            </a:r>
            <a:br/>
            <a:r>
              <a:t>两级缓存足矣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0000" y="2500000"/>
            <a:ext cx="3600000" cy="14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E7B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CC0000"/>
                </a:solidFill>
                <a:latin typeface="黑体"/>
              </a:defRPr>
            </a:pPr>
            <a:r>
              <a:t>情形三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模型 &gt; CPU 容量</a:t>
            </a:r>
            <a:br/>
            <a:r>
              <a:t>必须落 SSD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4200000"/>
            <a:ext cx="11500000" cy="7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CC0000"/>
                </a:solidFill>
                <a:latin typeface="黑体"/>
              </a:defRPr>
            </a:pPr>
            <a:r>
              <a:t>判断条件：模型 expert 总量 &gt; 可用 CPU 内存（与模型类型无关）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实例：Mixtral-8×7B ≈ 90 GB，典型 CPU 内存 32–64 GB → 进入情形三 ★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结论：在此区制下，大量 expert 被迫落 SSD，每次冷读 ~790ms → 必须系统性地解决 SSD 访问瓶颈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研究动机：现有方案的三个结构性不足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50000"/>
            <a:ext cx="3600000" cy="800000"/>
          </a:xfrm>
          <a:prstGeom prst="roundRect">
            <a:avLst/>
          </a:prstGeom>
          <a:solidFill>
            <a:srgbClr val="FCD5D5"/>
          </a:solidFill>
          <a:ln w="19050">
            <a:solidFill>
              <a:srgbClr val="E7B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400"/>
              </a:spcAft>
              <a:defRPr sz="1800" b="1">
                <a:solidFill>
                  <a:srgbClr val="CC0000"/>
                </a:solidFill>
                <a:latin typeface="黑体"/>
              </a:defRPr>
            </a:pPr>
            <a:r>
              <a:t>容量不足</a:t>
            </a:r>
            <a:br/>
            <a:r>
              <a:t>两级方案失效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205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HBM+CPU 两级缓存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260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expert 总量 &gt; CPU 内存时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315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无处安放溢出的 expert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70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OOM 或静默丢弃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0000" y="1150000"/>
            <a:ext cx="3600000" cy="800000"/>
          </a:xfrm>
          <a:prstGeom prst="roundRect">
            <a:avLst/>
          </a:prstGeom>
          <a:solidFill>
            <a:srgbClr val="FCD5D5"/>
          </a:solidFill>
          <a:ln w="19050">
            <a:solidFill>
              <a:srgbClr val="E7B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400"/>
              </a:spcAft>
              <a:defRPr sz="1800" b="1">
                <a:solidFill>
                  <a:srgbClr val="CC0000"/>
                </a:solidFill>
                <a:latin typeface="黑体"/>
              </a:defRPr>
            </a:pPr>
            <a:r>
              <a:t>精度损失</a:t>
            </a:r>
            <a:br/>
            <a:r>
              <a:t>量化以精度换空间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0000" y="205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SwapMoE 2-bit 量化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0000" y="260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PPL：24.57 → 36.12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0000" y="315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退化幅度 +47%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0000" y="370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生成质量不可接受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0000" y="1150000"/>
            <a:ext cx="3600000" cy="80000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400"/>
              </a:spcAft>
              <a:defRPr sz="1800" b="1">
                <a:solidFill>
                  <a:srgbClr val="2E74B5"/>
                </a:solidFill>
                <a:latin typeface="黑体"/>
              </a:defRPr>
            </a:pPr>
            <a:r>
              <a:t>缺少协同</a:t>
            </a:r>
            <a:br/>
            <a:r>
              <a:t>编译/运行割裂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0000" y="205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静态放置猜不准漂移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0000" y="260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纯动态缺全局指导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0000" y="315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两端优势未能发挥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0000" y="3700000"/>
            <a:ext cx="3600000" cy="4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急需有机整合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500000"/>
            <a:ext cx="11500000" cy="18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设计目标：同时满足三项要求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R1 容量 ── 三级放置，容纳超出 CPU 内存的全量数据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R2 精度 ── 恒等搬运，全程 fp16，输出与原模型逐比特一致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R3 性能 ── 联合 LRU，最小化最慢层级（SSD）的访问次数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这是一组相互制约的需求：现有方案最多同时满足其中两项，MECC 的目标是三者兼得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既有方案对比与 MECC 的独特定位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200000"/>
          <a:ext cx="11400000" cy="22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900000"/>
                <a:gridCol w="1900000"/>
                <a:gridCol w="1900000"/>
                <a:gridCol w="1900000"/>
                <a:gridCol w="1900000"/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方案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存储层级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CPU 管理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Sub-CPU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特点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mixtral-offloading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HBM+CPU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静态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fp16 无损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两级，容量有限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Fiddler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HBM+CPU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CPU上计算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fp16 无损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搬激活不搬权重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SwapMoE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HBM+CPU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静态固定池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2-bit 有损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精度退化 +47%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EdgeMoE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HBM+CPU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有损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精度换空间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MECC (ours)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HBM+CPU+SSD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联合LRU升降级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fp16 无损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唯一三级+无损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00000" y="3800000"/>
            <a:ext cx="11400000" cy="26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27C3C"/>
                </a:solidFill>
                <a:latin typeface="黑体"/>
              </a:defRPr>
            </a:pPr>
            <a:r>
              <a:t>MECC 的独特定位：唯一同时覆盖三个维度的方案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容量              精度             性能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MECC      ✓ 三级            ✓ fp16无损        ✓ 联合LRU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SwapMoE   ✗ 两级            ✗ 2-bit有损      ✗ 静态CPU池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Fiddler   ✗ 两级            ✓ fp16无损        ✗ CPU计算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1. 三级存储 → 容纳超出 CPU 内存的全量 expert（容量维度）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2. 恒等搬运 → 全程 fp16，PPL 与原模型逐比特一致（精度维度，命题 4, Proven）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3. 联合 LRU → 自适应运行期真实工作集，超越静态分配（性能维度）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MECC 架构全景：编译期与运行期两阶段协同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1100000"/>
            <a:ext cx="5600000" cy="50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E74B5"/>
                </a:solidFill>
                <a:latin typeface="黑体"/>
              </a:defRPr>
            </a:pPr>
            <a:r>
              <a:t>编译期（离线 · 无需 GPU）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① Profile  在代表性负载上统计每层 expert 访问频次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② α 估计  拟合 Zipf 集中度参数（极大似然估计）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③ Optimize  预算约束下求解最优层级容量 K_H, K_C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④ 静态放置表  最热 K_H → HBM / 次热 K_C → CPU / 其余 → SSD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950000" y="3400000"/>
            <a:ext cx="350000" cy="250000"/>
          </a:xfrm>
          <a:prstGeom prst="rightArrow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000" y="1100000"/>
            <a:ext cx="5600000" cy="50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27C3C"/>
                </a:solidFill>
                <a:latin typeface="黑体"/>
              </a:defRPr>
            </a:pPr>
            <a:r>
              <a:t>运行期（在线 · 需 GPU）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⑤ HBM 层（K_H 个 · 动态 LRU）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 命中 → 直接计算 (~µs)  |  淘汰 → spill 降级 CPU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⑥ CPU 层（K_C 个 · 联合 LRU）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 命中 → promote 升级 HBM  |  淘汰 → evict SSD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⑦ SSD 层（冷存储 · 按需加载）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 仅容纳最少访问的尾部 expert (~100ms)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0000" y="6150000"/>
            <a:ext cx="11600000" cy="350000"/>
          </a:xfrm>
          <a:prstGeom prst="roundRect">
            <a:avLst/>
          </a:prstGeom>
          <a:gradFill rotWithShape="1">
            <a:gsLst>
              <a:gs pos="0">
                <a:srgbClr val="F5F5F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黑体"/>
              </a:defRPr>
            </a:pPr>
            <a:r>
              <a:t>异步搬运引擎：专用 CUDA stream + 预分配缓冲池，PCIe H2D 搬运与 GPU 计算重叠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核心机制：联合动态 LRU — Spill 与 Promote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50000"/>
            <a:ext cx="5600000" cy="400000"/>
          </a:xfrm>
          <a:prstGeom prst="roundRect">
            <a:avLst/>
          </a:prstGeom>
          <a:solidFill>
            <a:srgbClr val="FCD5D5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400"/>
              </a:spcAft>
              <a:defRPr sz="1600" b="1">
                <a:solidFill>
                  <a:srgbClr val="CC0000"/>
                </a:solidFill>
                <a:latin typeface="黑体"/>
              </a:defRPr>
            </a:pPr>
            <a:r>
              <a:t>✗ 静态 CPU 池 (SwapMoE)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0000" y="1550000"/>
            <a:ext cx="5300000" cy="7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HBM 动态 LRU</a:t>
            </a:r>
            <a:br/>
            <a:r>
              <a:t>(K_H 个 · 独立淘汰)</a:t>
            </a:r>
          </a:p>
        </p:txBody>
      </p:sp>
      <p:sp>
        <p:nvSpPr>
          <p:cNvPr id="6" name="Down Arrow 5"/>
          <p:cNvSpPr/>
          <p:nvPr/>
        </p:nvSpPr>
        <p:spPr>
          <a:xfrm>
            <a:off x="3000000" y="2250000"/>
            <a:ext cx="250000" cy="1800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0000" y="2450000"/>
            <a:ext cx="5300000" cy="7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CPU 静态固定池</a:t>
            </a:r>
            <a:br/>
            <a:r>
              <a:t>(K_C 个 · 运行期不变 · 无升降级)</a:t>
            </a:r>
          </a:p>
        </p:txBody>
      </p:sp>
      <p:sp>
        <p:nvSpPr>
          <p:cNvPr id="8" name="Down Arrow 7"/>
          <p:cNvSpPr/>
          <p:nvPr/>
        </p:nvSpPr>
        <p:spPr>
          <a:xfrm>
            <a:off x="3000000" y="3150000"/>
            <a:ext cx="250000" cy="1800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0000" y="3350000"/>
            <a:ext cx="5300000" cy="70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666666"/>
                </a:solidFill>
                <a:latin typeface="黑体"/>
              </a:defRPr>
            </a:pPr>
            <a:r>
              <a:t>SSD 冷存</a:t>
            </a:r>
            <a:br/>
            <a:r>
              <a:t>(其余 expert)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4200000"/>
            <a:ext cx="5300000" cy="21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CC0000"/>
                </a:solidFill>
                <a:latin typeface="黑体"/>
              </a:defRPr>
            </a:pPr>
            <a:r>
              <a:t>静态 CPU 池为何失效？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次热 expert 一旦被访问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在动态 HBM LRU 下被提升并长期驻留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后续访问全在 HBM 命中，不再回落 CPU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真正落 SSD 的是更冷的尾部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静态池对尾部无能为力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"两头不沾"：CPU 命中率塌缩至 ≈0%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实证：SwapMoE CPU 命中仅 23.3%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0000" y="1050000"/>
            <a:ext cx="5600000" cy="400000"/>
          </a:xfrm>
          <a:prstGeom prst="roundRect">
            <a:avLst/>
          </a:prstGeom>
          <a:solidFill>
            <a:srgbClr val="C6EFCE"/>
          </a:solidFill>
          <a:ln w="19050">
            <a:solidFill>
              <a:srgbClr val="227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400"/>
              </a:spcAft>
              <a:defRPr sz="1600" b="1">
                <a:solidFill>
                  <a:srgbClr val="227C3C"/>
                </a:solidFill>
                <a:latin typeface="黑体"/>
              </a:defRPr>
            </a:pPr>
            <a:r>
              <a:t>✓ 联合动态 LRU (MECC)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0000" y="1550000"/>
            <a:ext cx="5200000" cy="65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HBM LRU</a:t>
            </a:r>
            <a:br/>
            <a:r>
              <a:t>(K_H 个 · 独立淘汰)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0" y="2300000"/>
            <a:ext cx="2200000" cy="5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↓ spill 降级  →  淘汰项写入 CPU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00000" y="2900000"/>
            <a:ext cx="5200000" cy="65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CPU 联合 LRU</a:t>
            </a:r>
            <a:br/>
            <a:r>
              <a:t>(K_C 个 · 统一淘汰栈)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0" y="3650000"/>
            <a:ext cx="2200000" cy="5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↑ promote 升级  →  命中项迁回 HBM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00000" y="4250000"/>
            <a:ext cx="5200000" cy="650000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SSD 冷存</a:t>
            </a:r>
            <a:br/>
            <a:r>
              <a:t>(最少访问的尾部数据)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00000" y="4200000"/>
            <a:ext cx="5400000" cy="21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27C3C"/>
                </a:solidFill>
                <a:latin typeface="黑体"/>
              </a:defRPr>
            </a:pPr>
            <a:r>
              <a:t>联合 LRU 为何有效？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spill 保留降级副本于 CPU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后续访问可从 CPU 回升 (promote)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promote 将回升热度纳入 HBM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联合栈前 K_H+K_C 项 = 运行期真实高频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自适应跟踪访问流偏移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→ 漂移越大，相对静态方案优势越显著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实证：OURS CPU 命中 38.0% (+63%)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运行时数据流：一次 Expert 访问的完整路径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0000" y="1200000"/>
            <a:ext cx="2200000" cy="7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>
                <a:solidFill>
                  <a:srgbClr val="1B3A5C"/>
                </a:solidFill>
                <a:latin typeface="黑体"/>
              </a:defRPr>
            </a:pPr>
            <a:r>
              <a:t>Gate</a:t>
            </a:r>
            <a:br/>
            <a:r>
              <a:t>选中 expert 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850000" y="1500000"/>
            <a:ext cx="300000" cy="150000"/>
          </a:xfrm>
          <a:prstGeom prst="rightArrow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00000" y="1200000"/>
            <a:ext cx="2200000" cy="7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>
                <a:solidFill>
                  <a:srgbClr val="1B3A5C"/>
                </a:solidFill>
                <a:latin typeface="黑体"/>
              </a:defRPr>
            </a:pPr>
            <a:r>
              <a:t>HBM</a:t>
            </a:r>
            <a:br/>
            <a:r>
              <a:t>命中?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50000" y="1500000"/>
            <a:ext cx="300000" cy="150000"/>
          </a:xfrm>
          <a:prstGeom prst="rightArrow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00000" y="1200000"/>
            <a:ext cx="2200000" cy="7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>
                <a:solidFill>
                  <a:srgbClr val="1B3A5C"/>
                </a:solidFill>
                <a:latin typeface="黑体"/>
              </a:defRPr>
            </a:pPr>
            <a:r>
              <a:t>CPU</a:t>
            </a:r>
            <a:br/>
            <a:r>
              <a:t>命中?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50000" y="1500000"/>
            <a:ext cx="300000" cy="150000"/>
          </a:xfrm>
          <a:prstGeom prst="rightArrow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0000" y="1200000"/>
            <a:ext cx="2200000" cy="7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600">
                <a:solidFill>
                  <a:srgbClr val="1B3A5C"/>
                </a:solidFill>
                <a:latin typeface="黑体"/>
              </a:defRPr>
            </a:pPr>
            <a:r>
              <a:t>SSD</a:t>
            </a:r>
            <a:br/>
            <a:r>
              <a:t>冷读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0000" y="2100000"/>
            <a:ext cx="2200000" cy="6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黑体"/>
              </a:defRPr>
            </a:pPr>
            <a:r>
              <a:t>YES → 直接计算</a:t>
            </a:r>
            <a:br/>
            <a:r>
              <a:t>(~256 µs)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0" y="2100000"/>
            <a:ext cx="2200000" cy="6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黑体"/>
              </a:defRPr>
            </a:pPr>
            <a:r>
              <a:t>YES → H2D + promote</a:t>
            </a:r>
            <a:br/>
            <a:r>
              <a:t>(~6,504 µs)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0" y="2100000"/>
            <a:ext cx="2200000" cy="6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黑体"/>
              </a:defRPr>
            </a:pPr>
            <a:r>
              <a:t>冷读 + H2D</a:t>
            </a:r>
            <a:br/>
            <a:r>
              <a:t>(~789,739 µs)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3100000"/>
            <a:ext cx="11500000" cy="34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E74B5"/>
                </a:solidFill>
                <a:latin typeface="黑体"/>
              </a:defRPr>
            </a:pPr>
            <a:r>
              <a:t>命中率分布与端到端延迟的关系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层级         | 命中率(OURS) | 访问延迟    | 相对HBM倍数 | 备注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HBM           |   44.4%      |   256 µs    |    1×       | 直接计算，最快路径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CPU (联合LRU) |   38.0%      |  6,504 µs   |   ~25×      | 联合 LRU 的核心价值所在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SSD            |   17.6%      | 789,739 µs  | ~3,088×     | 仅 17.6% 触发昂贵冷读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快层总覆盖率 (HBM + CPU)：82.4%     ←    命题 3：h_S 降低 → 延迟近似线性降低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关键指标：SSD 命中率从 SwapMoE 的 34.5% 压缩至 17.6%（−49%）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形式化分析：Zipf 热度模型下的关键命题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00000"/>
            <a:ext cx="5600000" cy="22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1B3A5C"/>
                </a:solidFill>
                <a:latin typeface="黑体"/>
              </a:defRPr>
            </a:pPr>
            <a:r>
              <a:t>命题 1：命中率闭式 [Proven]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Zipf 分布 p_i ∝ i^{-α} 下，容量 k 的缓存命中率：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HitRate(k) = H_k(α) / H_N(α)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H_n(α) = Σ_{j=1}^{n} j^{-α} 为广义调和数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整套理论体系的解析基石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60000" y="1100000"/>
            <a:ext cx="5600000" cy="22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1B3A5C"/>
                </a:solidFill>
                <a:latin typeface="黑体"/>
              </a:defRPr>
            </a:pPr>
            <a:r>
              <a:t>命题 2：期望延迟单调性 [Proven]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L(K_H,K_C) = h_H·T_H + h_C·T_C + h_S·T_S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关于 K_H 和 K_C 各自单调不增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最优解在预算边界：尽量填满快层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编译器采用容量贪心策略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3600000"/>
            <a:ext cx="5600000" cy="22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1B3A5C"/>
                </a:solidFill>
                <a:latin typeface="黑体"/>
              </a:defRPr>
            </a:pPr>
            <a:r>
              <a:t>命题 3：SSD 延迟主导 [Proven]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T_S ≫ T_C ≫ T_H  →  L ≈ h_S·T_S + O(T_C)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降低 SSD 命中率 h_S → 近似线性降低延迟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证实压低 SSD 命中率为核心优化方向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将理论与端到端性能直接关联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60000" y="3600000"/>
            <a:ext cx="5600000" cy="22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1B3A5C"/>
                </a:solidFill>
                <a:latin typeface="黑体"/>
              </a:defRPr>
            </a:pPr>
            <a:r>
              <a:t>命题 4：无损精度保证 [Proven]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所有搬运 f_{t→t'}(x) = x 为 fp16 恒等映射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缓存仅改变权重位置与时机，不改变数值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输出与原模型逐比特一致，PPL 不变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→ 与量化方案的本质区别：同精度下更快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150000"/>
            <a:ext cx="115000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C0000"/>
                </a:solidFill>
                <a:latin typeface="黑体"/>
              </a:defRPr>
            </a:pPr>
            <a:r>
              <a:t>注：联合 LRU 包含性（h_S^{ours} ≤ h_S^{static}）当前为 Conjecture，严格证明为最优先攻关事项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四种可比策略与实验设置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0000" y="1200000"/>
          <a:ext cx="11400000" cy="1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/>
                <a:gridCol w="1900000"/>
                <a:gridCol w="1900000"/>
                <a:gridCol w="1900000"/>
                <a:gridCol w="1900000"/>
                <a:gridCol w="1900000"/>
              </a:tblGrid>
              <a:tr h="38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策略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HBM 管理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CPU 管理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Miss 行为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精度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ours (MECC)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动态LRU · 淘汰降级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联合LRU · 命中升级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落SSD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fp16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本文方法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swapmoe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动态LRU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静态固定池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落SSD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2-bit有损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主对手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fiddler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固定驻留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CPU上计算expert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搬激活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fp16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CPU协同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naive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无驻留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不使用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每次流式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fp16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下界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00000" y="3200000"/>
            <a:ext cx="11400000" cy="3200000"/>
          </a:xfrm>
          <a:prstGeom prst="roundRect">
            <a:avLst/>
          </a:prstGeom>
          <a:gradFill rotWithShape="1">
            <a:gsLst>
              <a:gs pos="0">
                <a:srgbClr val="F5F5F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1B3A5C"/>
                </a:solidFill>
                <a:latin typeface="黑体"/>
              </a:defRPr>
            </a:pPr>
            <a:r>
              <a:t>实验设置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平台：NVIDIA A100 80GB  ·  冷 NVMe SSD（绕过 OS page cache，真实冷读）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主模型：Mixtral-8×7B (≈90 GB)  ·  CPU 内存 32 GB → 强制落 SSD → L2 主战场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对照模型：DeepSeek-V2-Lite (≈30 GB)  ·  CPU 可容纳 → L1 仅算法上界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度量：端到端 tokens/s, TPOT, PPL (WikiText-2), 三级命中率 (h_H, h_C, h_S)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公平性：所有策略共享编译期容量分配、SSD 存储布局与 MoE 前向计算路径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仅 CPU 层管理策略不同 → 隔离联合 LRU 的独立贡献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主实验结果：Mixtral-8×7B 主战场（L2 真机 · A100 80GB · 冷 SSD）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100000"/>
          <a:ext cx="110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00"/>
                <a:gridCol w="2750000"/>
                <a:gridCol w="2750000"/>
                <a:gridCol w="27500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OURS (MECC)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SwapMoE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变化 / 差异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端到端加速比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1.33×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1.00×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+33%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PPL (WikiText-2)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24.57 (fp16 无损)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36.12 (2-bit 有损)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精度保全 vs +47% 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SSD 命中率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−49%（近半）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CPU 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+63%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HBM 命中率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44.4%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+5%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00000" y="3400000"/>
            <a:ext cx="3600000" cy="15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27C3C"/>
                </a:solidFill>
                <a:latin typeface="黑体"/>
              </a:defRPr>
            </a:pPr>
            <a:r>
              <a:t>加速与无损兼得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保持 fp16 精度前提下</a:t>
            </a:r>
            <a:br/>
            <a:r>
              <a:t>取得 1.33× 端到端加速</a:t>
            </a:r>
            <a:br/>
            <a:r>
              <a:t>SwapMoE 量化退化 47%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0000" y="3400000"/>
            <a:ext cx="3600000" cy="15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E74B5"/>
                </a:solidFill>
                <a:latin typeface="黑体"/>
              </a:defRPr>
            </a:pPr>
            <a:r>
              <a:t>SSD 命中率减半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34.5% → 17.6%（−49%）</a:t>
            </a:r>
            <a:br/>
            <a:r>
              <a:t>命题 3：降低 h_S →</a:t>
            </a:r>
            <a:br/>
            <a:r>
              <a:t>近似线性降低延迟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00000" y="3400000"/>
            <a:ext cx="3600000" cy="15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E74B5"/>
                </a:solidFill>
                <a:latin typeface="黑体"/>
              </a:defRPr>
            </a:pPr>
            <a:r>
              <a:t>CPU 利用率 +63%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黑体"/>
              </a:defRPr>
            </a:pPr>
            <a:r>
              <a:t>38.0% vs 23.3%</a:t>
            </a:r>
            <a:br/>
            <a:r>
              <a:t>联合 LRU spill/promote</a:t>
            </a:r>
            <a:br/>
            <a:r>
              <a:t>的直接收益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0000" y="5200000"/>
            <a:ext cx="11400000" cy="9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B2DBBA"/>
              </a:gs>
            </a:gsLst>
            <a:lin scaled="0" ang="16200000"/>
          </a:gradFill>
          <a:ln w="1905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227C3C"/>
                </a:solidFill>
                <a:latin typeface="黑体"/>
              </a:defRPr>
            </a:pPr>
            <a:r>
              <a:t>核心结论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000000"/>
                </a:solidFill>
                <a:latin typeface="黑体"/>
              </a:defRPr>
            </a:pPr>
            <a:r>
              <a:t>联合 LRU 使更多 expert 命中快层 → SSD 命中率减半 → 延迟近似线性降低（命题 3） → 1.33× 加速且精度无损（命题 4）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三级命中率对比：SSD 命中率为何减半？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050000"/>
            <a:ext cx="5600000" cy="4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27C3C"/>
                </a:solidFill>
                <a:latin typeface="黑体"/>
              </a:defRPr>
            </a:pPr>
            <a:r>
              <a:t>OURS (MECC) — 联合动态 LRU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0000" y="1600000"/>
            <a:ext cx="4440000" cy="5500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黑体"/>
              </a:defRPr>
            </a:pPr>
            <a:r>
              <a:t>HBM: 44.4%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0000" y="2250000"/>
            <a:ext cx="3800000" cy="5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黑体"/>
              </a:defRPr>
            </a:pPr>
            <a:r>
              <a:t>CPU: 38.0%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0000" y="2900000"/>
            <a:ext cx="1760000" cy="5500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黑体"/>
              </a:defRPr>
            </a:pPr>
            <a:r>
              <a:t>SSD: 17.6%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050000"/>
            <a:ext cx="5600000" cy="4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CC0000"/>
                </a:solidFill>
                <a:latin typeface="黑体"/>
              </a:defRPr>
            </a:pPr>
            <a:r>
              <a:t>SwapMoE — 静态 CPU 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000" y="1600000"/>
            <a:ext cx="4220000" cy="550000"/>
          </a:xfrm>
          <a:prstGeom prst="round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黑体"/>
              </a:defRPr>
            </a:pPr>
            <a:r>
              <a:t>HBM: 42.2%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000" y="2250000"/>
            <a:ext cx="2330000" cy="55000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黑体"/>
              </a:defRPr>
            </a:pPr>
            <a:r>
              <a:t>CPU: 23.3%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000" y="2900000"/>
            <a:ext cx="3450000" cy="5500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黑体"/>
              </a:defRPr>
            </a:pPr>
            <a:r>
              <a:t>SSD: 34.5%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00" y="3700000"/>
            <a:ext cx="11400000" cy="28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命中率差异解读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HBM：OURS 44.4% vs SwapMoE 42.2%  ——  接近，均受限于 K_H=4 的 HBM 容量上限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CPU：OURS 38.0% vs SwapMoE 23.3%  ——  联合 LRU 的核心价值：spill/promote 使 CPU 积极参与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SSD：OURS 17.6% vs SwapMoE 34.5%  ——  −49%，上述差异的集中体现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机制：SwapMoE 的静态 CPU 池"两头不沾"→ 次热被提升后不回 CPU，冷尾超出覆盖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    MECC 的联合 LRU  → spill 保留降级副本 + promote 回升热度 → 快层覆盖率更高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快层总覆盖率：OURS 82.4% (HBM+CPU) vs SwapMoE 65.5% → 差值 16.9% 即从 SSD 转移的访问量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消融实验：联合 LRU 的独立贡献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0000" y="1200000"/>
          <a:ext cx="110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200000"/>
                <a:gridCol w="2200000"/>
                <a:gridCol w="2200000"/>
                <a:gridCol w="22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CPU 命中率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SSD 命中率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相对 SSD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联合 LRU (ours 完整)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1.00×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完整 spill/promote 机制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静态 CPU 池 (swapmoe)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1.96×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移除升降级，退回静态分配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0000" y="2300000"/>
            <a:ext cx="11000000" cy="17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E8C1C1"/>
              </a:gs>
            </a:gsLst>
            <a:lin scaled="0" ang="16200000"/>
          </a:gradFill>
          <a:ln w="1905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60000" bIns="6000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CC0000"/>
                </a:solidFill>
                <a:latin typeface="黑体"/>
              </a:defRPr>
            </a:pPr>
            <a:r>
              <a:t>消融结论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000000"/>
                </a:solidFill>
                <a:latin typeface="黑体"/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000000"/>
                </a:solidFill>
                <a:latin typeface="黑体"/>
              </a:defRPr>
            </a:pPr>
            <a:r>
              <a:t>移除 spill/promote 机制 → SSD 命中率从 17.6% 反弹至 34.5%（近乎翻倍）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000000"/>
                </a:solidFill>
                <a:latin typeface="黑体"/>
              </a:defRPr>
            </a:pPr>
            <a:r>
              <a:t>→ 联合动态 LRU 是压低 SSD 命中率的充分必要条件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000000"/>
                </a:solidFill>
                <a:latin typeface="黑体"/>
              </a:defRPr>
            </a:pPr>
            <a:r>
              <a:t>→ 该结果直接验证了架构分析（§4.3）：静态 CPU 池在动态 HBM LRU 下"两头不沾"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对照实验与趋势分析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50000"/>
            <a:ext cx="11500000" cy="4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1600" b="1">
                <a:solidFill>
                  <a:srgbClr val="2E74B5"/>
                </a:solidFill>
                <a:latin typeface="黑体"/>
              </a:defRPr>
            </a:pPr>
            <a:r>
              <a:t>DeepSeek-V2-Lite（L1 对照 · CPU 可容纳 · 不触发 SSD · 仅展示算法上界）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0000" y="1650000"/>
          <a:ext cx="11000000" cy="1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200000"/>
                <a:gridCol w="2200000"/>
                <a:gridCol w="2200000"/>
                <a:gridCol w="2200000"/>
              </a:tblGrid>
              <a:tr h="3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OURS (tok/s)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SwapMoE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比值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无优化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2.38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2.59×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Zipf 导向放置的算法价值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+ 批量预取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1.10×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PCIe 饱和后收益收窄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端到端 e2e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2.55×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综合端到端加速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00000" y="2800000"/>
            <a:ext cx="11000000" cy="45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CC0000"/>
                </a:solidFill>
                <a:latin typeface="黑体"/>
              </a:defRPr>
            </a:pPr>
            <a:r>
              <a:t>此场景 CPU 装得下、SSD 几乎不触发 → 不作为主战场有效性证据，仅展示算法结构性上界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3500000"/>
            <a:ext cx="11500000" cy="45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1600" b="1">
                <a:solidFill>
                  <a:srgbClr val="2E74B5"/>
                </a:solidFill>
                <a:latin typeface="黑体"/>
              </a:defRPr>
            </a:pPr>
            <a:r>
              <a:t>趋势分析：热点漂移鲁棒性（缓存模拟器 · 合成 N=64 · D1 非真机 · 仅说明趋势）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0000" y="4150000"/>
          <a:ext cx="11000000" cy="10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2200000"/>
                <a:gridCol w="2200000"/>
                <a:gridCol w="2200000"/>
                <a:gridCol w="2200000"/>
              </a:tblGrid>
              <a:tr h="34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工作负载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OURS vs FluxMoE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OURS vs SwapMoE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数据性质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/>
                        </a:defRPr>
                      </a:pPr>
                      <a:r>
                        <a:t>趋势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热点漂移 (drift)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9.50×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5.68×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D1 模拟器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漂移越大 →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4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静止 (stationary)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6.26×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3.99×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D1 模拟器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优势越显著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0000" y="5300000"/>
            <a:ext cx="11000000" cy="450000"/>
          </a:xfrm>
          <a:prstGeom prst="roundRect">
            <a:avLst/>
          </a:prstGeom>
          <a:gradFill rotWithShape="1">
            <a:gsLst>
              <a:gs pos="0">
                <a:srgbClr val="F5F5F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300">
                <a:solidFill>
                  <a:srgbClr val="666666"/>
                </a:solidFill>
                <a:latin typeface="黑体"/>
              </a:defRPr>
            </a:pPr>
            <a:r>
              <a:t>D1 模拟器数据，非真机实测 → 仅展示趋势方向，不进入主结论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适用边界、已知局限与下一步攻关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00000"/>
            <a:ext cx="5600000" cy="12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27C3C"/>
                </a:solidFill>
                <a:latin typeface="黑体"/>
              </a:defRPr>
            </a:pPr>
            <a:r>
              <a:t>MECC 有效域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判断条件：D = 模型 expert 总量 &gt; CPU 内存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D ≤ HBM 容量 → 无需 offload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HBM &lt; D ≤ CPU → 两级方案足够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700">
                <a:solidFill>
                  <a:srgbClr val="000000"/>
                </a:solidFill>
                <a:latin typeface="Times New Roman"/>
              </a:defRPr>
            </a:pPr>
            <a:r>
              <a:t>D &gt; CPU → MECC 有效域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2500000"/>
            <a:ext cx="5600000" cy="3900000"/>
          </a:xfrm>
          <a:prstGeom prst="roundRect">
            <a:avLst/>
          </a:prstGeom>
          <a:gradFill rotWithShape="1">
            <a:gsLst>
              <a:gs pos="0">
                <a:srgbClr val="FCD5D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CC0000"/>
                </a:solidFill>
                <a:latin typeface="黑体"/>
              </a:defRPr>
            </a:pPr>
            <a:r>
              <a:t>已知局限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理论缺口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TH-006 联合 LRU 包含性：Conjecture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TH-005 静态池塌缩：Partial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TH-004 贪心最优性：Partial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实验覆盖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L2 主验证仅 Mixtral-8×7B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漂移数据为 D1 模拟器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工程成熟度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mecc_framework 待库化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0000" y="1100000"/>
            <a:ext cx="5600000" cy="53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2E74B5"/>
                </a:solidFill>
                <a:latin typeface="黑体"/>
              </a:defRPr>
            </a:pPr>
            <a:r>
              <a:t>下一步攻关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理论（最高优先）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★★★ TH-006 联合 LRU 包含性严格证明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     Mattson stack inclusion 框架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★★  TH-005 静态池塌缩形式化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★★  TH-004 交换论证补全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实验扩展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Qwen-MoE / DeepSeek-MoE 大档 L2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H100 / RTX 5090 平台迁移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工程完善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mecc_framework 库化 + API 文档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黑体"/>
              </a:defRPr>
            </a:pPr>
            <a:r>
              <a:t>  · 完整复现指南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90000" y="134000"/>
            <a:ext cx="11700000" cy="570000"/>
          </a:xfrm>
          <a:prstGeom prst="rect">
            <a:avLst/>
          </a:prstGeom>
          <a:noFill/>
        </p:spPr>
        <p:txBody>
          <a:bodyPr wrap="square" lIns="7200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黑体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50000"/>
            <a:ext cx="11500000" cy="1200000"/>
          </a:xfrm>
          <a:prstGeom prst="roundRect">
            <a:avLst/>
          </a:prstGeom>
          <a:gradFill rotWithShape="1">
            <a:gsLst>
              <a:gs pos="0">
                <a:srgbClr val="BDD7E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核心贡献：提出 MECC — 面向 sub-CPU 内存预算的三级缓存架构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编译期：Zipf 热度模型驱动的静态放置（命题 1-2）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运行期：HBM-CPU 联合动态 LRU（spill / promote）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精度保证：全程 fp16 恒等搬运 — 输出与原模型逐比特一致（命题 4, Proven）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0000" y="2450000"/>
            <a:ext cx="11500000" cy="1200000"/>
          </a:xfrm>
          <a:prstGeom prst="roundRect">
            <a:avLst/>
          </a:prstGeom>
          <a:gradFill rotWithShape="1">
            <a:gsLst>
              <a:gs pos="0">
                <a:srgbClr val="C6EFCE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主实验结果（Mixtral-8×7B · A100 80GB · 冷 SSD）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1.33× 端到端加速（vs. 有损基线 SwapMoE）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PPL 24.57 无损精度（vs. SwapMoE 2-bit 量化 PPL 36.12 · 退化 +47%）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SSD 命中率 34.5% → 17.6%（−49%）· 联合 LRU 为关键驱动机制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0000" y="3850000"/>
            <a:ext cx="11500000" cy="1200000"/>
          </a:xfrm>
          <a:prstGeom prst="roundRect">
            <a:avLst/>
          </a:prstGeom>
          <a:gradFill rotWithShape="1">
            <a:gsLst>
              <a:gs pos="0">
                <a:srgbClr val="F5F5F5"/>
              </a:gs>
              <a:gs pos="100000">
                <a:srgbClr val="FFFFFF"/>
              </a:gs>
            </a:gsLst>
            <a:lin scaled="0" ang="16200000"/>
          </a:gradFill>
          <a:ln w="12700">
            <a:solidFill>
              <a:srgbClr val="AAE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 tIns="50000" bIns="50000"/>
          <a:lstStyle/>
          <a:p>
            <a:pPr algn="ctr">
              <a:spcAft>
                <a:spcPts val="600"/>
              </a:spcAft>
              <a:defRPr sz="2000" b="1">
                <a:solidFill>
                  <a:srgbClr val="000000"/>
                </a:solidFill>
                <a:latin typeface="黑体"/>
              </a:defRPr>
            </a:pPr>
            <a:r>
              <a:t>关键洞察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以精心设计的缓存架构（而非有损压缩）解决内存受限场景下的容量-精度-性能三元权衡。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00000"/>
                </a:solidFill>
                <a:latin typeface="黑体"/>
              </a:defRPr>
            </a:pPr>
            <a:r>
              <a:t>结构化缓存调度可同时兼顾速度与精度。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0" y="5300000"/>
            <a:ext cx="8600000" cy="7000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E7BB01"/>
                </a:solidFill>
                <a:latin typeface="黑体"/>
              </a:defRPr>
            </a:pPr>
            <a:r>
              <a:t>1.33× 加速    ·    PPL 24.57 无损    ·    SSD 命中率 −49%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6613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1000000" cy="1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A5C"/>
                </a:solidFill>
                <a:latin typeface="黑体"/>
              </a:defRPr>
            </a:pPr>
            <a:r>
              <a:t>MECC：面向 Sub-CPU 内存预算的</a:t>
            </a:r>
          </a:p>
          <a:p>
            <a:pPr algn="ctr">
              <a:defRPr sz="3600" b="1">
                <a:solidFill>
                  <a:srgbClr val="1B3A5C"/>
                </a:solidFill>
                <a:latin typeface="黑体"/>
              </a:defRPr>
            </a:pPr>
            <a:r>
              <a:t>无损三级 Expert 缓存编译器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3500000" y="3100000"/>
            <a:ext cx="5200000" cy="40000"/>
          </a:xfrm>
          <a:prstGeom prst="rect">
            <a:avLst/>
          </a:prstGeom>
          <a:solidFill>
            <a:srgbClr val="E7B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3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C0000"/>
                </a:solidFill>
                <a:latin typeface="黑体"/>
              </a:defRPr>
            </a:pPr>
            <a:r>
              <a:t>1.33× 加速  ·  PPL 24.57 无损  ·  SSD 命中率 −49%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4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3A5C"/>
                </a:solidFill>
                <a:latin typeface="黑体"/>
              </a:defRPr>
            </a:pPr>
            <a:r>
              <a:t>恳请各位专家批评指正！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300000"/>
            <a:ext cx="11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  <a:latin typeface="黑体"/>
              </a:defRPr>
            </a:pPr>
            <a:r>
              <a:t>中山大学计算机学院  ·  国家超级计算广州中心    |    2026年7月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00000"/>
            <a:ext cx="12192000" cy="1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